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94"/>
    <p:restoredTop sz="94610"/>
  </p:normalViewPr>
  <p:slideViewPr>
    <p:cSldViewPr snapToGrid="0" snapToObjects="1">
      <p:cViewPr varScale="1">
        <p:scale>
          <a:sx n="177" d="100"/>
          <a:sy n="177" d="100"/>
        </p:scale>
        <p:origin x="31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in K. Twarakavi" userId="88581cf3-f0ba-465b-8190-5f31dc64834c" providerId="ADAL" clId="{76441A8B-B048-55DB-9C20-C6110DD5DDA9}"/>
    <pc:docChg chg="custSel mod modSld modMainMaster">
      <pc:chgData name="Navin K. Twarakavi" userId="88581cf3-f0ba-465b-8190-5f31dc64834c" providerId="ADAL" clId="{76441A8B-B048-55DB-9C20-C6110DD5DDA9}" dt="2026-08-04T02:03:31.957" v="36" actId="20577"/>
      <pc:docMkLst>
        <pc:docMk/>
      </pc:docMkLst>
      <pc:sldChg chg="delSp mod">
        <pc:chgData name="Navin K. Twarakavi" userId="88581cf3-f0ba-465b-8190-5f31dc64834c" providerId="ADAL" clId="{76441A8B-B048-55DB-9C20-C6110DD5DDA9}" dt="2026-08-04T02:02:45.189" v="5" actId="478"/>
        <pc:sldMkLst>
          <pc:docMk/>
          <pc:sldMk cId="0" sldId="256"/>
        </pc:sldMkLst>
        <pc:spChg chg="del">
          <ac:chgData name="Navin K. Twarakavi" userId="88581cf3-f0ba-465b-8190-5f31dc64834c" providerId="ADAL" clId="{76441A8B-B048-55DB-9C20-C6110DD5DDA9}" dt="2026-08-04T02:02:31.869" v="0" actId="478"/>
          <ac:spMkLst>
            <pc:docMk/>
            <pc:sldMk cId="0" sldId="256"/>
            <ac:spMk id="2" creationId="{00000000-0000-0000-0000-000000000000}"/>
          </ac:spMkLst>
        </pc:spChg>
        <pc:spChg chg="del">
          <ac:chgData name="Navin K. Twarakavi" userId="88581cf3-f0ba-465b-8190-5f31dc64834c" providerId="ADAL" clId="{76441A8B-B048-55DB-9C20-C6110DD5DDA9}" dt="2026-08-04T02:02:33.429" v="1" actId="478"/>
          <ac:spMkLst>
            <pc:docMk/>
            <pc:sldMk cId="0" sldId="256"/>
            <ac:spMk id="3" creationId="{00000000-0000-0000-0000-000000000000}"/>
          </ac:spMkLst>
        </pc:spChg>
        <pc:spChg chg="del">
          <ac:chgData name="Navin K. Twarakavi" userId="88581cf3-f0ba-465b-8190-5f31dc64834c" providerId="ADAL" clId="{76441A8B-B048-55DB-9C20-C6110DD5DDA9}" dt="2026-08-04T02:02:45.189" v="5" actId="478"/>
          <ac:spMkLst>
            <pc:docMk/>
            <pc:sldMk cId="0" sldId="256"/>
            <ac:spMk id="6" creationId="{00000000-0000-0000-0000-000000000000}"/>
          </ac:spMkLst>
        </pc:spChg>
        <pc:spChg chg="del">
          <ac:chgData name="Navin K. Twarakavi" userId="88581cf3-f0ba-465b-8190-5f31dc64834c" providerId="ADAL" clId="{76441A8B-B048-55DB-9C20-C6110DD5DDA9}" dt="2026-08-04T02:02:39.194" v="4" actId="478"/>
          <ac:spMkLst>
            <pc:docMk/>
            <pc:sldMk cId="0" sldId="256"/>
            <ac:spMk id="7" creationId="{00000000-0000-0000-0000-000000000000}"/>
          </ac:spMkLst>
        </pc:spChg>
        <pc:spChg chg="del">
          <ac:chgData name="Navin K. Twarakavi" userId="88581cf3-f0ba-465b-8190-5f31dc64834c" providerId="ADAL" clId="{76441A8B-B048-55DB-9C20-C6110DD5DDA9}" dt="2026-08-04T02:02:39.194" v="4" actId="478"/>
          <ac:spMkLst>
            <pc:docMk/>
            <pc:sldMk cId="0" sldId="256"/>
            <ac:spMk id="8" creationId="{00000000-0000-0000-0000-000000000000}"/>
          </ac:spMkLst>
        </pc:spChg>
        <pc:spChg chg="del">
          <ac:chgData name="Navin K. Twarakavi" userId="88581cf3-f0ba-465b-8190-5f31dc64834c" providerId="ADAL" clId="{76441A8B-B048-55DB-9C20-C6110DD5DDA9}" dt="2026-08-04T02:02:39.194" v="4" actId="478"/>
          <ac:spMkLst>
            <pc:docMk/>
            <pc:sldMk cId="0" sldId="256"/>
            <ac:spMk id="9" creationId="{00000000-0000-0000-0000-000000000000}"/>
          </ac:spMkLst>
        </pc:spChg>
      </pc:sldChg>
      <pc:sldChg chg="delSp modSp mod">
        <pc:chgData name="Navin K. Twarakavi" userId="88581cf3-f0ba-465b-8190-5f31dc64834c" providerId="ADAL" clId="{76441A8B-B048-55DB-9C20-C6110DD5DDA9}" dt="2026-08-04T02:03:31.957" v="36" actId="20577"/>
        <pc:sldMkLst>
          <pc:docMk/>
          <pc:sldMk cId="0" sldId="257"/>
        </pc:sldMkLst>
        <pc:spChg chg="mod">
          <ac:chgData name="Navin K. Twarakavi" userId="88581cf3-f0ba-465b-8190-5f31dc64834c" providerId="ADAL" clId="{76441A8B-B048-55DB-9C20-C6110DD5DDA9}" dt="2026-08-04T02:03:31.957" v="36" actId="20577"/>
          <ac:spMkLst>
            <pc:docMk/>
            <pc:sldMk cId="0" sldId="257"/>
            <ac:spMk id="2" creationId="{00000000-0000-0000-0000-000000000000}"/>
          </ac:spMkLst>
        </pc:spChg>
        <pc:spChg chg="del">
          <ac:chgData name="Navin K. Twarakavi" userId="88581cf3-f0ba-465b-8190-5f31dc64834c" providerId="ADAL" clId="{76441A8B-B048-55DB-9C20-C6110DD5DDA9}" dt="2026-08-04T02:03:08.986" v="6" actId="478"/>
          <ac:spMkLst>
            <pc:docMk/>
            <pc:sldMk cId="0" sldId="257"/>
            <ac:spMk id="16" creationId="{00000000-0000-0000-0000-000000000000}"/>
          </ac:spMkLst>
        </pc:spChg>
        <pc:spChg chg="del">
          <ac:chgData name="Navin K. Twarakavi" userId="88581cf3-f0ba-465b-8190-5f31dc64834c" providerId="ADAL" clId="{76441A8B-B048-55DB-9C20-C6110DD5DDA9}" dt="2026-08-04T02:03:13.471" v="7" actId="478"/>
          <ac:spMkLst>
            <pc:docMk/>
            <pc:sldMk cId="0" sldId="257"/>
            <ac:spMk id="17" creationId="{00000000-0000-0000-0000-000000000000}"/>
          </ac:spMkLst>
        </pc:spChg>
        <pc:spChg chg="del">
          <ac:chgData name="Navin K. Twarakavi" userId="88581cf3-f0ba-465b-8190-5f31dc64834c" providerId="ADAL" clId="{76441A8B-B048-55DB-9C20-C6110DD5DDA9}" dt="2026-08-04T02:03:13.471" v="7" actId="478"/>
          <ac:spMkLst>
            <pc:docMk/>
            <pc:sldMk cId="0" sldId="257"/>
            <ac:spMk id="18" creationId="{00000000-0000-0000-0000-000000000000}"/>
          </ac:spMkLst>
        </pc:spChg>
      </pc:sldChg>
      <pc:sldMasterChg chg="addSp mod">
        <pc:chgData name="Navin K. Twarakavi" userId="88581cf3-f0ba-465b-8190-5f31dc64834c" providerId="ADAL" clId="{76441A8B-B048-55DB-9C20-C6110DD5DDA9}" dt="2026-08-04T02:02:36.768" v="2" actId="33475"/>
        <pc:sldMasterMkLst>
          <pc:docMk/>
          <pc:sldMasterMk cId="0" sldId="2147483648"/>
        </pc:sldMasterMkLst>
        <pc:spChg chg="add">
          <ac:chgData name="Navin K. Twarakavi" userId="88581cf3-f0ba-465b-8190-5f31dc64834c" providerId="ADAL" clId="{76441A8B-B048-55DB-9C20-C6110DD5DDA9}" dt="2026-08-04T02:02:36.768" v="2" actId="33475"/>
          <ac:spMkLst>
            <pc:docMk/>
            <pc:sldMasterMk cId="0" sldId="2147483648"/>
            <ac:spMk id="3" creationId="{833115E1-F553-021E-8B54-BCD158AA0EE4}"/>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53E5C"/>
                </a:solidFill>
                <a:latin typeface="Cambria"/>
              </a:defRPr>
            </a:pPr>
            <a:r>
              <a:rPr sz="1400" b="0" i="0" u="none" strike="noStrike">
                <a:solidFill>
                  <a:srgbClr val="153E5C"/>
                </a:solidFill>
                <a:latin typeface="Cambria"/>
              </a:rPr>
              <a:t>Resolution dominates everything else</a:t>
            </a:r>
          </a:p>
        </c:rich>
      </c:tx>
      <c:overlay val="0"/>
    </c:title>
    <c:autoTitleDeleted val="0"/>
    <c:plotArea>
      <c:layout/>
      <c:barChart>
        <c:barDir val="col"/>
        <c:grouping val="clustered"/>
        <c:varyColors val="0"/>
        <c:ser>
          <c:idx val="0"/>
          <c:order val="0"/>
          <c:tx>
            <c:strRef>
              <c:f>Sheet1!$B$1</c:f>
              <c:strCache>
                <c:ptCount val="1"/>
                <c:pt idx="0">
                  <c:v>Spatial-block CV AUC</c:v>
                </c:pt>
              </c:strCache>
            </c:strRef>
          </c:tx>
          <c:spPr>
            <a:solidFill>
              <a:srgbClr val="1F6F8B"/>
            </a:solidFill>
            <a:effectLst/>
          </c:spPr>
          <c:invertIfNegative val="0"/>
          <c:dLbls>
            <c:numFmt formatCode="0.000" sourceLinked="0"/>
            <c:spPr>
              <a:noFill/>
              <a:ln>
                <a:noFill/>
              </a:ln>
              <a:effectLst/>
            </c:spPr>
            <c:txPr>
              <a:bodyPr/>
              <a:lstStyle/>
              <a:p>
                <a:pPr>
                  <a:defRPr sz="1100" b="0" i="0" u="none" strike="noStrike">
                    <a:solidFill>
                      <a:srgbClr val="10141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250 m</c:v>
                </c:pt>
                <c:pt idx="1">
                  <c:v>90 m</c:v>
                </c:pt>
                <c:pt idx="2">
                  <c:v>30 m</c:v>
                </c:pt>
              </c:strCache>
            </c:strRef>
          </c:cat>
          <c:val>
            <c:numRef>
              <c:f>Sheet1!$B$2:$B$4</c:f>
              <c:numCache>
                <c:formatCode>General</c:formatCode>
                <c:ptCount val="3"/>
                <c:pt idx="0">
                  <c:v>0.72809999999999997</c:v>
                </c:pt>
                <c:pt idx="1">
                  <c:v>0.80589999999999995</c:v>
                </c:pt>
                <c:pt idx="2">
                  <c:v>0.81559999999999999</c:v>
                </c:pt>
              </c:numCache>
            </c:numRef>
          </c:val>
          <c:extLst>
            <c:ext xmlns:c16="http://schemas.microsoft.com/office/drawing/2014/chart" uri="{C3380CC4-5D6E-409C-BE32-E72D297353CC}">
              <c16:uniqueId val="{00000000-2A32-4B44-A237-B10A81DBCF7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672"/>
                </a:solidFill>
                <a:latin typeface="Arial"/>
              </a:defRPr>
            </a:pPr>
            <a:endParaRPr lang="en-US"/>
          </a:p>
        </c:txPr>
        <c:crossAx val="2094734552"/>
        <c:crosses val="autoZero"/>
        <c:auto val="1"/>
        <c:lblAlgn val="ctr"/>
        <c:lblOffset val="100"/>
        <c:noMultiLvlLbl val="1"/>
      </c:catAx>
      <c:valAx>
        <c:axId val="2094734552"/>
        <c:scaling>
          <c:orientation val="minMax"/>
          <c:max val="0.85"/>
          <c:min val="0.6"/>
        </c:scaling>
        <c:delete val="0"/>
        <c:axPos val="l"/>
        <c:majorGridlines>
          <c:spPr>
            <a:ln w="6350" cap="flat">
              <a:solidFill>
                <a:srgbClr val="E4E8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C6672"/>
                </a:solidFill>
                <a:latin typeface="Arial"/>
              </a:defRPr>
            </a:pPr>
            <a:endParaRPr lang="en-US"/>
          </a:p>
        </c:txPr>
        <c:crossAx val="2094734554"/>
        <c:crosses val="autoZero"/>
        <c:crossBetween val="between"/>
        <c:majorUnit val="0.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642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H-SIM answers one question for the selected countries — India, Nepal and Bhutan in the shipped config, all eight HKH members one setting away: of all the places people and roads sit under Himalayan slopes, which deserve attention first? One physically based model, one product, honestly labelled. The tagline is the app's legend: colour encodes exposure, the stroke pattern encodes how a road fails.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management: the deliverable is one HTML file that opens in any browser. 45 provinces ranked by how much of their ground the model calls unstable, with the human stakes beside each. Selecting a province embeds its full map. Everything else in this deck explains why those numbers can be trusted, and exactly how far.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engineers: SINMAP closes the infinite-slope equation with a steady-state wetness term. Pseudo-static seismic loading extends it to earthquake scenarios; CMIP6 recharge scaling extends it to 2060. The honest part: parameters are fitted ranges, not lab values, and the map is the probability over those ranges — relative by construction.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numbered step is one CLI command; the README's Quick Reference lists them in order. The design assumption is that something always interrupts a multi-day sweep, so resumability is a first-class feature, and cheap refresh paths exist for display-only changes.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claim traces to a script in analysis/ and a JSON of results. The failure case is presented with the successes: on Shimla's road-cut inventory the model inverts, which is why the app never pretends to score cut-slopes — it flags them as geometry instead.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upgrades to how assets are scored, all visible in the app's popups. The clip fixed a real defect — Meghalaya's map used to show Bangladeshi villages floating outside the border. Footprints, sector and supply are literature-grounded: GHS-BUILT can replace the disc radii behind the same interface when we add the dataset.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display rule the whole app teaches: colour = exposure, line style = mechanism. Two of the three mechanisms are honest geometric flags rather than model output, and the app's legend says so — that honesty is what makes the map defensible in front of a road department.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features are fully implemented, unit-tested on constructed terrain, and OFF. The experiment scripts are the switches; each prints an explicit ADOPT or NULL verdict. This is the repository's core epistemics: physically motivated is not the same as measurably better.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page serves three audiences. Every card, column and control opens its own explainer on click, and a Glossary tab plus each province's sidebar glossary state every definition — including, for every percentage, what it is a percentage of. Colour is exposure, line style is mechanism, scenarios re-play the terrain. Works offline from a folder; a MapTiler key upgrades the basemap, a keyless CARTO fallback keeps it working without one.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sentences are the difference between a defensible screen and an over-claim. They appear in the README, in METHODS.md, in the app's glossary and in every summary JSON's note field.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Operationally simple by design: one config file per product, one command per stage, resumable everywhere. The 'h-sim' shorthand stands for 'python -m h_sim.cli'.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follows the same rule as everything shipped: implemented, tested, and gated on a held-out number. Questions welcome — every figure in this deck traces to a script and a results JSON in the repository.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3115E1-F553-021E-8B54-BCD158AA0EE4}"/>
              </a:ext>
            </a:extLst>
          </p:cNvPr>
          <p:cNvSpPr txBox="1"/>
          <p:nvPr userDrawn="1">
            <p:extLst>
              <p:ext uri="{1162E1C5-73C7-4A58-AE30-91384D911F3F}">
                <p184:classification xmlns:p184="http://schemas.microsoft.com/office/powerpoint/2018/4/main" val="ftr"/>
              </p:ext>
            </p:extLst>
          </p:nvPr>
        </p:nvSpPr>
        <p:spPr>
          <a:xfrm>
            <a:off x="3224213" y="6672580"/>
            <a:ext cx="5764212"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INTERNAL. This information is accessible to ADB Management and Staff. It may be shared outside ADB with appropriate permission.</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E5C"/>
        </a:solidFill>
        <a:effectLst/>
      </p:bgPr>
    </p:bg>
    <p:spTree>
      <p:nvGrpSpPr>
        <p:cNvPr id="1" name=""/>
        <p:cNvGrpSpPr/>
        <p:nvPr/>
      </p:nvGrpSpPr>
      <p:grpSpPr>
        <a:xfrm>
          <a:off x="0" y="0"/>
          <a:ext cx="0" cy="0"/>
          <a:chOff x="0" y="0"/>
          <a:chExt cx="0" cy="0"/>
        </a:xfrm>
      </p:grpSpPr>
      <p:sp>
        <p:nvSpPr>
          <p:cNvPr id="4" name="Text 2"/>
          <p:cNvSpPr/>
          <p:nvPr/>
        </p:nvSpPr>
        <p:spPr>
          <a:xfrm>
            <a:off x="822960" y="1371600"/>
            <a:ext cx="6400800" cy="100584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H-SIM</a:t>
            </a:r>
            <a:endParaRPr lang="en-US" sz="6400" dirty="0"/>
          </a:p>
        </p:txBody>
      </p:sp>
      <p:sp>
        <p:nvSpPr>
          <p:cNvPr id="5" name="Text 3"/>
          <p:cNvSpPr/>
          <p:nvPr/>
        </p:nvSpPr>
        <p:spPr>
          <a:xfrm>
            <a:off x="841248" y="2395728"/>
            <a:ext cx="8229600" cy="457200"/>
          </a:xfrm>
          <a:prstGeom prst="rect">
            <a:avLst/>
          </a:prstGeom>
          <a:noFill/>
          <a:ln/>
        </p:spPr>
        <p:txBody>
          <a:bodyPr wrap="square" lIns="0" tIns="0" rIns="0" bIns="0" rtlCol="0" anchor="ctr"/>
          <a:lstStyle/>
          <a:p>
            <a:pPr marL="0" indent="0">
              <a:buNone/>
            </a:pPr>
            <a:r>
              <a:rPr lang="en-US" sz="2400" dirty="0">
                <a:solidFill>
                  <a:srgbClr val="CFE3EF"/>
                </a:solidFill>
                <a:latin typeface="Cambria" pitchFamily="34" charset="0"/>
                <a:ea typeface="Cambria" pitchFamily="34" charset="-122"/>
                <a:cs typeface="Cambria" pitchFamily="34" charset="-120"/>
              </a:rPr>
              <a:t>Himalayan Slope Instability Model</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rPr>
              <a:t>H-SIM Regional Coverage</a:t>
            </a:r>
            <a:endParaRPr lang="en-US" sz="3000" dirty="0"/>
          </a:p>
        </p:txBody>
      </p:sp>
      <p:sp>
        <p:nvSpPr>
          <p:cNvPr id="3" name="Text 1"/>
          <p:cNvSpPr/>
          <p:nvPr/>
        </p:nvSpPr>
        <p:spPr>
          <a:xfrm>
            <a:off x="566928" y="960120"/>
            <a:ext cx="10972800" cy="640080"/>
          </a:xfrm>
          <a:prstGeom prst="rect">
            <a:avLst/>
          </a:prstGeom>
          <a:noFill/>
          <a:ln/>
        </p:spPr>
        <p:txBody>
          <a:bodyPr wrap="square" lIns="0" tIns="0" rIns="0" bIns="0" rtlCol="0" anchor="ctr"/>
          <a:lstStyle/>
          <a:p>
            <a:pPr marL="0" indent="0">
              <a:buNone/>
            </a:pPr>
            <a:r>
              <a:rPr lang="en-US" sz="1500" dirty="0">
                <a:solidFill>
                  <a:srgbClr val="5C6672"/>
                </a:solidFill>
                <a:latin typeface="Calibri" pitchFamily="34" charset="0"/>
                <a:ea typeface="Calibri" pitchFamily="34" charset="-122"/>
                <a:cs typeface="Calibri" pitchFamily="34" charset="-120"/>
              </a:rPr>
              <a:t>Failure probability, exposed settlements and exposed road segments for every mountain province — ranked, mapped, and browsable from a single web app that runs from a folder. No server, no login.</a:t>
            </a:r>
            <a:endParaRPr lang="en-US" sz="1500" dirty="0"/>
          </a:p>
        </p:txBody>
      </p:sp>
      <p:sp>
        <p:nvSpPr>
          <p:cNvPr id="4" name="Shape 2"/>
          <p:cNvSpPr/>
          <p:nvPr/>
        </p:nvSpPr>
        <p:spPr>
          <a:xfrm>
            <a:off x="566928" y="1828800"/>
            <a:ext cx="2651760" cy="1828800"/>
          </a:xfrm>
          <a:prstGeom prst="roundRect">
            <a:avLst>
              <a:gd name="adj" fmla="val 45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5" name="Text 3"/>
          <p:cNvSpPr/>
          <p:nvPr/>
        </p:nvSpPr>
        <p:spPr>
          <a:xfrm>
            <a:off x="566928" y="2057400"/>
            <a:ext cx="2651760" cy="822960"/>
          </a:xfrm>
          <a:prstGeom prst="rect">
            <a:avLst/>
          </a:prstGeom>
          <a:noFill/>
          <a:ln/>
        </p:spPr>
        <p:txBody>
          <a:bodyPr wrap="square" rtlCol="0" anchor="ctr"/>
          <a:lstStyle/>
          <a:p>
            <a:pPr marL="0" indent="0" algn="ctr">
              <a:buNone/>
            </a:pPr>
            <a:r>
              <a:rPr lang="en-US" sz="4400" b="1" dirty="0">
                <a:solidFill>
                  <a:srgbClr val="1F6F8B"/>
                </a:solidFill>
                <a:latin typeface="Cambria" pitchFamily="34" charset="0"/>
                <a:ea typeface="Cambria" pitchFamily="34" charset="-122"/>
                <a:cs typeface="Cambria" pitchFamily="34" charset="-120"/>
              </a:rPr>
              <a:t>45</a:t>
            </a:r>
            <a:endParaRPr lang="en-US" sz="4400" dirty="0"/>
          </a:p>
        </p:txBody>
      </p:sp>
      <p:sp>
        <p:nvSpPr>
          <p:cNvPr id="6" name="Text 4"/>
          <p:cNvSpPr/>
          <p:nvPr/>
        </p:nvSpPr>
        <p:spPr>
          <a:xfrm>
            <a:off x="704088" y="2926080"/>
            <a:ext cx="2377440" cy="640080"/>
          </a:xfrm>
          <a:prstGeom prst="rect">
            <a:avLst/>
          </a:prstGeom>
          <a:noFill/>
          <a:ln/>
        </p:spPr>
        <p:txBody>
          <a:bodyPr wrap="square" rtlCol="0" anchor="ctr"/>
          <a:lstStyle/>
          <a:p>
            <a:pPr marL="0" indent="0" algn="ctr">
              <a:buNone/>
            </a:pPr>
            <a:r>
              <a:rPr lang="en-US" sz="1250" dirty="0">
                <a:solidFill>
                  <a:srgbClr val="5C6672"/>
                </a:solidFill>
                <a:latin typeface="Calibri" pitchFamily="34" charset="0"/>
                <a:ea typeface="Calibri" pitchFamily="34" charset="-122"/>
                <a:cs typeface="Calibri" pitchFamily="34" charset="-120"/>
              </a:rPr>
              <a:t>states &amp; provinces: India · Nepal · Bhutan</a:t>
            </a:r>
            <a:endParaRPr lang="en-US" sz="1250" dirty="0"/>
          </a:p>
        </p:txBody>
      </p:sp>
      <p:sp>
        <p:nvSpPr>
          <p:cNvPr id="7" name="Shape 5"/>
          <p:cNvSpPr/>
          <p:nvPr/>
        </p:nvSpPr>
        <p:spPr>
          <a:xfrm>
            <a:off x="3419856" y="1828800"/>
            <a:ext cx="2651760" cy="1828800"/>
          </a:xfrm>
          <a:prstGeom prst="roundRect">
            <a:avLst>
              <a:gd name="adj" fmla="val 45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8" name="Text 6"/>
          <p:cNvSpPr/>
          <p:nvPr/>
        </p:nvSpPr>
        <p:spPr>
          <a:xfrm>
            <a:off x="3419856" y="2057400"/>
            <a:ext cx="2651760" cy="822960"/>
          </a:xfrm>
          <a:prstGeom prst="rect">
            <a:avLst/>
          </a:prstGeom>
          <a:noFill/>
          <a:ln/>
        </p:spPr>
        <p:txBody>
          <a:bodyPr wrap="square" rtlCol="0" anchor="ctr"/>
          <a:lstStyle/>
          <a:p>
            <a:pPr marL="0" indent="0" algn="ctr">
              <a:buNone/>
            </a:pPr>
            <a:r>
              <a:rPr lang="en-US" sz="4400" b="1" dirty="0">
                <a:solidFill>
                  <a:srgbClr val="1F6F8B"/>
                </a:solidFill>
                <a:latin typeface="Cambria" pitchFamily="34" charset="0"/>
                <a:ea typeface="Cambria" pitchFamily="34" charset="-122"/>
                <a:cs typeface="Cambria" pitchFamily="34" charset="-120"/>
              </a:rPr>
              <a:t>3</a:t>
            </a:r>
            <a:endParaRPr lang="en-US" sz="4400" dirty="0"/>
          </a:p>
        </p:txBody>
      </p:sp>
      <p:sp>
        <p:nvSpPr>
          <p:cNvPr id="9" name="Text 7"/>
          <p:cNvSpPr/>
          <p:nvPr/>
        </p:nvSpPr>
        <p:spPr>
          <a:xfrm>
            <a:off x="3557016" y="2926080"/>
            <a:ext cx="2377440" cy="640080"/>
          </a:xfrm>
          <a:prstGeom prst="rect">
            <a:avLst/>
          </a:prstGeom>
          <a:noFill/>
          <a:ln/>
        </p:spPr>
        <p:txBody>
          <a:bodyPr wrap="square" rtlCol="0" anchor="ctr"/>
          <a:lstStyle/>
          <a:p>
            <a:pPr marL="0" indent="0" algn="ctr">
              <a:buNone/>
            </a:pPr>
            <a:r>
              <a:rPr lang="en-US" sz="1250" dirty="0">
                <a:solidFill>
                  <a:srgbClr val="5C6672"/>
                </a:solidFill>
                <a:latin typeface="Calibri" pitchFamily="34" charset="0"/>
                <a:ea typeface="Calibri" pitchFamily="34" charset="-122"/>
                <a:cs typeface="Calibri" pitchFamily="34" charset="-120"/>
              </a:rPr>
              <a:t>countries selected — widens to all 8 HKH</a:t>
            </a:r>
            <a:endParaRPr lang="en-US" sz="1250" dirty="0"/>
          </a:p>
        </p:txBody>
      </p:sp>
      <p:sp>
        <p:nvSpPr>
          <p:cNvPr id="10" name="Shape 8"/>
          <p:cNvSpPr/>
          <p:nvPr/>
        </p:nvSpPr>
        <p:spPr>
          <a:xfrm>
            <a:off x="6272784" y="1828800"/>
            <a:ext cx="2651760" cy="1828800"/>
          </a:xfrm>
          <a:prstGeom prst="roundRect">
            <a:avLst>
              <a:gd name="adj" fmla="val 45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1" name="Text 9"/>
          <p:cNvSpPr/>
          <p:nvPr/>
        </p:nvSpPr>
        <p:spPr>
          <a:xfrm>
            <a:off x="6272784" y="2057400"/>
            <a:ext cx="2651760" cy="822960"/>
          </a:xfrm>
          <a:prstGeom prst="rect">
            <a:avLst/>
          </a:prstGeom>
          <a:noFill/>
          <a:ln/>
        </p:spPr>
        <p:txBody>
          <a:bodyPr wrap="square" rtlCol="0" anchor="ctr"/>
          <a:lstStyle/>
          <a:p>
            <a:pPr marL="0" indent="0" algn="ctr">
              <a:buNone/>
            </a:pPr>
            <a:r>
              <a:rPr lang="en-US" sz="4400" b="1" dirty="0">
                <a:solidFill>
                  <a:srgbClr val="1F6F8B"/>
                </a:solidFill>
                <a:latin typeface="Cambria" pitchFamily="34" charset="0"/>
                <a:ea typeface="Cambria" pitchFamily="34" charset="-122"/>
                <a:cs typeface="Cambria" pitchFamily="34" charset="-120"/>
              </a:rPr>
              <a:t>90 m</a:t>
            </a:r>
            <a:endParaRPr lang="en-US" sz="4400" dirty="0"/>
          </a:p>
        </p:txBody>
      </p:sp>
      <p:sp>
        <p:nvSpPr>
          <p:cNvPr id="12" name="Text 10"/>
          <p:cNvSpPr/>
          <p:nvPr/>
        </p:nvSpPr>
        <p:spPr>
          <a:xfrm>
            <a:off x="6409944" y="2926080"/>
            <a:ext cx="2377440" cy="640080"/>
          </a:xfrm>
          <a:prstGeom prst="rect">
            <a:avLst/>
          </a:prstGeom>
          <a:noFill/>
          <a:ln/>
        </p:spPr>
        <p:txBody>
          <a:bodyPr wrap="square" rtlCol="0" anchor="ctr"/>
          <a:lstStyle/>
          <a:p>
            <a:pPr marL="0" indent="0" algn="ctr">
              <a:buNone/>
            </a:pPr>
            <a:r>
              <a:rPr lang="en-US" sz="1250" dirty="0">
                <a:solidFill>
                  <a:srgbClr val="5C6672"/>
                </a:solidFill>
                <a:latin typeface="Calibri" pitchFamily="34" charset="0"/>
                <a:ea typeface="Calibri" pitchFamily="34" charset="-122"/>
                <a:cs typeface="Calibri" pitchFamily="34" charset="-120"/>
              </a:rPr>
              <a:t>grid, regionally; 30 m for calibration</a:t>
            </a:r>
            <a:endParaRPr lang="en-US" sz="1250" dirty="0"/>
          </a:p>
        </p:txBody>
      </p:sp>
      <p:sp>
        <p:nvSpPr>
          <p:cNvPr id="13" name="Shape 11"/>
          <p:cNvSpPr/>
          <p:nvPr/>
        </p:nvSpPr>
        <p:spPr>
          <a:xfrm>
            <a:off x="9125712" y="1828800"/>
            <a:ext cx="2651760" cy="1828800"/>
          </a:xfrm>
          <a:prstGeom prst="roundRect">
            <a:avLst>
              <a:gd name="adj" fmla="val 45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dirty="0"/>
          </a:p>
        </p:txBody>
      </p:sp>
      <p:sp>
        <p:nvSpPr>
          <p:cNvPr id="14" name="Text 12"/>
          <p:cNvSpPr/>
          <p:nvPr/>
        </p:nvSpPr>
        <p:spPr>
          <a:xfrm>
            <a:off x="9125712" y="2057400"/>
            <a:ext cx="2651760" cy="822960"/>
          </a:xfrm>
          <a:prstGeom prst="rect">
            <a:avLst/>
          </a:prstGeom>
          <a:noFill/>
          <a:ln/>
        </p:spPr>
        <p:txBody>
          <a:bodyPr wrap="square" rtlCol="0" anchor="ctr"/>
          <a:lstStyle/>
          <a:p>
            <a:pPr marL="0" indent="0" algn="ctr">
              <a:buNone/>
            </a:pPr>
            <a:r>
              <a:rPr lang="en-US" sz="4400" b="1" dirty="0">
                <a:solidFill>
                  <a:srgbClr val="1F6F8B"/>
                </a:solidFill>
                <a:latin typeface="Cambria" pitchFamily="34" charset="0"/>
                <a:ea typeface="Cambria" pitchFamily="34" charset="-122"/>
                <a:cs typeface="Cambria" pitchFamily="34" charset="-120"/>
              </a:rPr>
              <a:t>2021–60</a:t>
            </a:r>
            <a:endParaRPr lang="en-US" sz="4400" dirty="0"/>
          </a:p>
        </p:txBody>
      </p:sp>
      <p:sp>
        <p:nvSpPr>
          <p:cNvPr id="15" name="Text 13"/>
          <p:cNvSpPr/>
          <p:nvPr/>
        </p:nvSpPr>
        <p:spPr>
          <a:xfrm>
            <a:off x="9262872" y="2926080"/>
            <a:ext cx="2377440" cy="640080"/>
          </a:xfrm>
          <a:prstGeom prst="rect">
            <a:avLst/>
          </a:prstGeom>
          <a:noFill/>
          <a:ln/>
        </p:spPr>
        <p:txBody>
          <a:bodyPr wrap="square" rtlCol="0" anchor="ctr"/>
          <a:lstStyle/>
          <a:p>
            <a:pPr marL="0" indent="0" algn="ctr">
              <a:buNone/>
            </a:pPr>
            <a:r>
              <a:rPr lang="en-US" sz="1250" dirty="0">
                <a:solidFill>
                  <a:srgbClr val="5C6672"/>
                </a:solidFill>
                <a:latin typeface="Calibri" pitchFamily="34" charset="0"/>
                <a:ea typeface="Calibri" pitchFamily="34" charset="-122"/>
                <a:cs typeface="Calibri" pitchFamily="34" charset="-120"/>
              </a:rPr>
              <a:t>both near-term CMIP6 windows, run in full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The physics: SINMAP over real drainage</a:t>
            </a:r>
            <a:endParaRPr lang="en-US" sz="3000" dirty="0"/>
          </a:p>
        </p:txBody>
      </p:sp>
      <p:sp>
        <p:nvSpPr>
          <p:cNvPr id="3" name="Shape 1"/>
          <p:cNvSpPr/>
          <p:nvPr/>
        </p:nvSpPr>
        <p:spPr>
          <a:xfrm>
            <a:off x="566928" y="1051560"/>
            <a:ext cx="5120640" cy="5120640"/>
          </a:xfrm>
          <a:prstGeom prst="roundRect">
            <a:avLst>
              <a:gd name="adj" fmla="val 1607"/>
            </a:avLst>
          </a:prstGeom>
          <a:solidFill>
            <a:srgbClr val="F4F6F9"/>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Shape 2"/>
          <p:cNvSpPr/>
          <p:nvPr/>
        </p:nvSpPr>
        <p:spPr>
          <a:xfrm flipH="1">
            <a:off x="1005840" y="3200400"/>
            <a:ext cx="4023360" cy="2377440"/>
          </a:xfrm>
          <a:prstGeom prst="rtTriangle">
            <a:avLst/>
          </a:prstGeom>
          <a:solidFill>
            <a:srgbClr val="D8E4EC"/>
          </a:solidFill>
          <a:ln w="19050">
            <a:solidFill>
              <a:srgbClr val="1F6F8B"/>
            </a:solidFill>
            <a:prstDash val="solid"/>
          </a:ln>
        </p:spPr>
        <p:txBody>
          <a:bodyPr/>
          <a:lstStyle/>
          <a:p>
            <a:endParaRPr lang="en-US"/>
          </a:p>
        </p:txBody>
      </p:sp>
      <p:sp>
        <p:nvSpPr>
          <p:cNvPr id="5" name="Shape 3"/>
          <p:cNvSpPr/>
          <p:nvPr/>
        </p:nvSpPr>
        <p:spPr>
          <a:xfrm flipV="1">
            <a:off x="1417320" y="4069080"/>
            <a:ext cx="3017520" cy="1234440"/>
          </a:xfrm>
          <a:prstGeom prst="line">
            <a:avLst/>
          </a:prstGeom>
          <a:noFill/>
          <a:ln w="28575">
            <a:solidFill>
              <a:srgbClr val="1F6F8B"/>
            </a:solidFill>
            <a:prstDash val="dash"/>
          </a:ln>
        </p:spPr>
        <p:txBody>
          <a:bodyPr/>
          <a:lstStyle/>
          <a:p>
            <a:endParaRPr lang="en-US"/>
          </a:p>
        </p:txBody>
      </p:sp>
      <p:sp>
        <p:nvSpPr>
          <p:cNvPr id="6" name="Text 4"/>
          <p:cNvSpPr/>
          <p:nvPr/>
        </p:nvSpPr>
        <p:spPr>
          <a:xfrm>
            <a:off x="1554480" y="4892040"/>
            <a:ext cx="2834640" cy="320040"/>
          </a:xfrm>
          <a:prstGeom prst="rect">
            <a:avLst/>
          </a:prstGeom>
          <a:noFill/>
          <a:ln/>
        </p:spPr>
        <p:txBody>
          <a:bodyPr wrap="square" lIns="0" tIns="0" rIns="0" bIns="0" rtlCol="0" anchor="ctr"/>
          <a:lstStyle/>
          <a:p>
            <a:pPr marL="0" indent="0">
              <a:buNone/>
            </a:pPr>
            <a:r>
              <a:rPr lang="en-US" sz="1050" dirty="0">
                <a:solidFill>
                  <a:srgbClr val="1F6F8B"/>
                </a:solidFill>
                <a:latin typeface="Calibri" pitchFamily="34" charset="0"/>
                <a:ea typeface="Calibri" pitchFamily="34" charset="-122"/>
                <a:cs typeface="Calibri" pitchFamily="34" charset="-120"/>
              </a:rPr>
              <a:t>water table (steady-state recharge)</a:t>
            </a:r>
            <a:endParaRPr lang="en-US" sz="1050" dirty="0"/>
          </a:p>
        </p:txBody>
      </p:sp>
      <p:sp>
        <p:nvSpPr>
          <p:cNvPr id="7" name="Text 5"/>
          <p:cNvSpPr/>
          <p:nvPr/>
        </p:nvSpPr>
        <p:spPr>
          <a:xfrm>
            <a:off x="2286000" y="3639312"/>
            <a:ext cx="2468880" cy="292608"/>
          </a:xfrm>
          <a:prstGeom prst="rect">
            <a:avLst/>
          </a:prstGeom>
          <a:noFill/>
          <a:ln/>
        </p:spPr>
        <p:txBody>
          <a:bodyPr wrap="square" lIns="0" tIns="0" rIns="0" bIns="0" rtlCol="0" anchor="ctr"/>
          <a:lstStyle/>
          <a:p>
            <a:pPr marL="0" indent="0">
              <a:buNone/>
            </a:pPr>
            <a:r>
              <a:rPr lang="en-US" sz="1050" dirty="0">
                <a:solidFill>
                  <a:srgbClr val="153E5C"/>
                </a:solidFill>
                <a:latin typeface="Calibri" pitchFamily="34" charset="0"/>
                <a:ea typeface="Calibri" pitchFamily="34" charset="-122"/>
                <a:cs typeface="Calibri" pitchFamily="34" charset="-120"/>
              </a:rPr>
              <a:t>soil surface — column depth h</a:t>
            </a:r>
            <a:endParaRPr lang="en-US" sz="1050" dirty="0"/>
          </a:p>
        </p:txBody>
      </p:sp>
      <p:sp>
        <p:nvSpPr>
          <p:cNvPr id="8" name="Text 6"/>
          <p:cNvSpPr/>
          <p:nvPr/>
        </p:nvSpPr>
        <p:spPr>
          <a:xfrm>
            <a:off x="1170432" y="5120640"/>
            <a:ext cx="365760" cy="365760"/>
          </a:xfrm>
          <a:prstGeom prst="rect">
            <a:avLst/>
          </a:prstGeom>
          <a:noFill/>
          <a:ln/>
        </p:spPr>
        <p:txBody>
          <a:bodyPr wrap="square" lIns="0" tIns="0" rIns="0" bIns="0" rtlCol="0" anchor="ctr"/>
          <a:lstStyle/>
          <a:p>
            <a:pPr marL="0" indent="0">
              <a:buNone/>
            </a:pPr>
            <a:r>
              <a:rPr lang="en-US" sz="1500" i="1" dirty="0">
                <a:solidFill>
                  <a:srgbClr val="101418"/>
                </a:solidFill>
                <a:latin typeface="Calibri" pitchFamily="34" charset="0"/>
                <a:ea typeface="Calibri" pitchFamily="34" charset="-122"/>
                <a:cs typeface="Calibri" pitchFamily="34" charset="-120"/>
              </a:rPr>
              <a:t>θ</a:t>
            </a:r>
            <a:endParaRPr lang="en-US" sz="1500" dirty="0"/>
          </a:p>
        </p:txBody>
      </p:sp>
      <p:sp>
        <p:nvSpPr>
          <p:cNvPr id="9" name="Text 7"/>
          <p:cNvSpPr/>
          <p:nvPr/>
        </p:nvSpPr>
        <p:spPr>
          <a:xfrm>
            <a:off x="868680" y="1325880"/>
            <a:ext cx="4572000" cy="822960"/>
          </a:xfrm>
          <a:prstGeom prst="rect">
            <a:avLst/>
          </a:prstGeom>
          <a:noFill/>
          <a:ln/>
        </p:spPr>
        <p:txBody>
          <a:bodyPr wrap="square" lIns="0" tIns="0" rIns="0" bIns="0" rtlCol="0" anchor="ctr"/>
          <a:lstStyle/>
          <a:p>
            <a:pPr marL="0" indent="0">
              <a:buNone/>
            </a:pPr>
            <a:r>
              <a:rPr lang="en-US" sz="1350" b="1" dirty="0">
                <a:solidFill>
                  <a:srgbClr val="101418"/>
                </a:solidFill>
                <a:latin typeface="Calibri" pitchFamily="34" charset="0"/>
                <a:ea typeface="Calibri" pitchFamily="34" charset="-122"/>
                <a:cs typeface="Calibri" pitchFamily="34" charset="-120"/>
              </a:rPr>
              <a:t>FS = resisting / driving  —  cohesion + friction vs gravity, weakened by wetness</a:t>
            </a:r>
            <a:endParaRPr lang="en-US" sz="1350" dirty="0"/>
          </a:p>
        </p:txBody>
      </p:sp>
      <p:sp>
        <p:nvSpPr>
          <p:cNvPr id="10" name="Text 8"/>
          <p:cNvSpPr/>
          <p:nvPr/>
        </p:nvSpPr>
        <p:spPr>
          <a:xfrm>
            <a:off x="868680" y="2148840"/>
            <a:ext cx="4709160" cy="73152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w = min( R·a / (T·sinθ), 1 )  —  wetness from the D∞ contributing area</a:t>
            </a:r>
            <a:endParaRPr lang="en-US" sz="1200" dirty="0"/>
          </a:p>
        </p:txBody>
      </p:sp>
      <p:sp>
        <p:nvSpPr>
          <p:cNvPr id="11" name="Shape 9"/>
          <p:cNvSpPr/>
          <p:nvPr/>
        </p:nvSpPr>
        <p:spPr>
          <a:xfrm>
            <a:off x="6035040" y="1234440"/>
            <a:ext cx="5577840" cy="1463040"/>
          </a:xfrm>
          <a:prstGeom prst="roundRect">
            <a:avLst>
              <a:gd name="adj" fmla="val 562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2" name="Shape 10"/>
          <p:cNvSpPr/>
          <p:nvPr/>
        </p:nvSpPr>
        <p:spPr>
          <a:xfrm>
            <a:off x="6263640" y="1691640"/>
            <a:ext cx="502920" cy="502920"/>
          </a:xfrm>
          <a:prstGeom prst="ellipse">
            <a:avLst/>
          </a:prstGeom>
          <a:solidFill>
            <a:srgbClr val="1F6F8B"/>
          </a:solidFill>
          <a:ln/>
        </p:spPr>
        <p:txBody>
          <a:bodyPr/>
          <a:lstStyle/>
          <a:p>
            <a:endParaRPr lang="en-US"/>
          </a:p>
        </p:txBody>
      </p:sp>
      <p:sp>
        <p:nvSpPr>
          <p:cNvPr id="13" name="Text 11"/>
          <p:cNvSpPr/>
          <p:nvPr/>
        </p:nvSpPr>
        <p:spPr>
          <a:xfrm>
            <a:off x="6263640" y="16916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4" name="Text 12"/>
          <p:cNvSpPr/>
          <p:nvPr/>
        </p:nvSpPr>
        <p:spPr>
          <a:xfrm>
            <a:off x="6949440" y="1362456"/>
            <a:ext cx="4572000" cy="365760"/>
          </a:xfrm>
          <a:prstGeom prst="rect">
            <a:avLst/>
          </a:prstGeom>
          <a:noFill/>
          <a:ln/>
        </p:spPr>
        <p:txBody>
          <a:bodyPr wrap="square" lIns="0" tIns="0" rIns="0" bIns="0" rtlCol="0" anchor="ctr"/>
          <a:lstStyle/>
          <a:p>
            <a:pPr marL="0" indent="0">
              <a:buNone/>
            </a:pPr>
            <a:r>
              <a:rPr lang="en-US" sz="1500" b="1" dirty="0">
                <a:solidFill>
                  <a:srgbClr val="153E5C"/>
                </a:solidFill>
                <a:latin typeface="Cambria" pitchFamily="34" charset="0"/>
                <a:ea typeface="Cambria" pitchFamily="34" charset="-122"/>
                <a:cs typeface="Cambria" pitchFamily="34" charset="-120"/>
              </a:rPr>
              <a:t>Infinite-slope stability</a:t>
            </a:r>
            <a:endParaRPr lang="en-US" sz="1500" dirty="0"/>
          </a:p>
        </p:txBody>
      </p:sp>
      <p:sp>
        <p:nvSpPr>
          <p:cNvPr id="15" name="Text 13"/>
          <p:cNvSpPr/>
          <p:nvPr/>
        </p:nvSpPr>
        <p:spPr>
          <a:xfrm>
            <a:off x="6949440" y="1737360"/>
            <a:ext cx="452628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Shallow translational failure on a planar slip surface — the mechanism behind most rainfall-triggered Himalayan slides.</a:t>
            </a:r>
            <a:endParaRPr lang="en-US" sz="1200" dirty="0"/>
          </a:p>
        </p:txBody>
      </p:sp>
      <p:sp>
        <p:nvSpPr>
          <p:cNvPr id="16" name="Shape 14"/>
          <p:cNvSpPr/>
          <p:nvPr/>
        </p:nvSpPr>
        <p:spPr>
          <a:xfrm>
            <a:off x="6035040" y="2926080"/>
            <a:ext cx="5577840" cy="1463040"/>
          </a:xfrm>
          <a:prstGeom prst="roundRect">
            <a:avLst>
              <a:gd name="adj" fmla="val 562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7" name="Shape 15"/>
          <p:cNvSpPr/>
          <p:nvPr/>
        </p:nvSpPr>
        <p:spPr>
          <a:xfrm>
            <a:off x="6263640" y="3383280"/>
            <a:ext cx="502920" cy="502920"/>
          </a:xfrm>
          <a:prstGeom prst="ellipse">
            <a:avLst/>
          </a:prstGeom>
          <a:solidFill>
            <a:srgbClr val="1F6F8B"/>
          </a:solidFill>
          <a:ln/>
        </p:spPr>
        <p:txBody>
          <a:bodyPr/>
          <a:lstStyle/>
          <a:p>
            <a:endParaRPr lang="en-US"/>
          </a:p>
        </p:txBody>
      </p:sp>
      <p:sp>
        <p:nvSpPr>
          <p:cNvPr id="18" name="Text 16"/>
          <p:cNvSpPr/>
          <p:nvPr/>
        </p:nvSpPr>
        <p:spPr>
          <a:xfrm>
            <a:off x="6263640" y="33832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7"/>
          <p:cNvSpPr/>
          <p:nvPr/>
        </p:nvSpPr>
        <p:spPr>
          <a:xfrm>
            <a:off x="6949440" y="3054096"/>
            <a:ext cx="4572000" cy="365760"/>
          </a:xfrm>
          <a:prstGeom prst="rect">
            <a:avLst/>
          </a:prstGeom>
          <a:noFill/>
          <a:ln/>
        </p:spPr>
        <p:txBody>
          <a:bodyPr wrap="square" lIns="0" tIns="0" rIns="0" bIns="0" rtlCol="0" anchor="ctr"/>
          <a:lstStyle/>
          <a:p>
            <a:pPr marL="0" indent="0">
              <a:buNone/>
            </a:pPr>
            <a:r>
              <a:rPr lang="en-US" sz="1500" b="1" dirty="0">
                <a:solidFill>
                  <a:srgbClr val="153E5C"/>
                </a:solidFill>
                <a:latin typeface="Cambria" pitchFamily="34" charset="0"/>
                <a:ea typeface="Cambria" pitchFamily="34" charset="-122"/>
                <a:cs typeface="Cambria" pitchFamily="34" charset="-120"/>
              </a:rPr>
              <a:t>Steady-state hydrology</a:t>
            </a:r>
            <a:endParaRPr lang="en-US" sz="1500" dirty="0"/>
          </a:p>
        </p:txBody>
      </p:sp>
      <p:sp>
        <p:nvSpPr>
          <p:cNvPr id="20" name="Text 18"/>
          <p:cNvSpPr/>
          <p:nvPr/>
        </p:nvSpPr>
        <p:spPr>
          <a:xfrm>
            <a:off x="6949440" y="3429000"/>
            <a:ext cx="452628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Wettest-month recharge routed over D-infinity flow directions: hollows that concentrate water concentrate failure.</a:t>
            </a:r>
            <a:endParaRPr lang="en-US" sz="1200" dirty="0"/>
          </a:p>
        </p:txBody>
      </p:sp>
      <p:sp>
        <p:nvSpPr>
          <p:cNvPr id="21" name="Shape 19"/>
          <p:cNvSpPr/>
          <p:nvPr/>
        </p:nvSpPr>
        <p:spPr>
          <a:xfrm>
            <a:off x="6035040" y="4617720"/>
            <a:ext cx="5577840" cy="1463040"/>
          </a:xfrm>
          <a:prstGeom prst="roundRect">
            <a:avLst>
              <a:gd name="adj" fmla="val 562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2" name="Shape 20"/>
          <p:cNvSpPr/>
          <p:nvPr/>
        </p:nvSpPr>
        <p:spPr>
          <a:xfrm>
            <a:off x="6263640" y="5074920"/>
            <a:ext cx="502920" cy="502920"/>
          </a:xfrm>
          <a:prstGeom prst="ellipse">
            <a:avLst/>
          </a:prstGeom>
          <a:solidFill>
            <a:srgbClr val="A50026"/>
          </a:solidFill>
          <a:ln/>
        </p:spPr>
        <p:txBody>
          <a:bodyPr/>
          <a:lstStyle/>
          <a:p>
            <a:endParaRPr lang="en-US"/>
          </a:p>
        </p:txBody>
      </p:sp>
      <p:sp>
        <p:nvSpPr>
          <p:cNvPr id="23" name="Text 21"/>
          <p:cNvSpPr/>
          <p:nvPr/>
        </p:nvSpPr>
        <p:spPr>
          <a:xfrm>
            <a:off x="6263640" y="50749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4" name="Text 22"/>
          <p:cNvSpPr/>
          <p:nvPr/>
        </p:nvSpPr>
        <p:spPr>
          <a:xfrm>
            <a:off x="6949440" y="4745736"/>
            <a:ext cx="4572000" cy="365760"/>
          </a:xfrm>
          <a:prstGeom prst="rect">
            <a:avLst/>
          </a:prstGeom>
          <a:noFill/>
          <a:ln/>
        </p:spPr>
        <p:txBody>
          <a:bodyPr wrap="square" lIns="0" tIns="0" rIns="0" bIns="0" rtlCol="0" anchor="ctr"/>
          <a:lstStyle/>
          <a:p>
            <a:pPr marL="0" indent="0">
              <a:buNone/>
            </a:pPr>
            <a:r>
              <a:rPr lang="en-US" sz="1500" b="1" dirty="0">
                <a:solidFill>
                  <a:srgbClr val="153E5C"/>
                </a:solidFill>
                <a:latin typeface="Cambria" pitchFamily="34" charset="0"/>
                <a:ea typeface="Cambria" pitchFamily="34" charset="-122"/>
                <a:cs typeface="Cambria" pitchFamily="34" charset="-120"/>
              </a:rPr>
              <a:t>Monte Carlo over fitted ranges</a:t>
            </a:r>
            <a:endParaRPr lang="en-US" sz="1500" dirty="0"/>
          </a:p>
        </p:txBody>
      </p:sp>
      <p:sp>
        <p:nvSpPr>
          <p:cNvPr id="25" name="Text 23"/>
          <p:cNvSpPr/>
          <p:nvPr/>
        </p:nvSpPr>
        <p:spPr>
          <a:xfrm>
            <a:off x="6949440" y="5120640"/>
            <a:ext cx="452628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Soil parameters are uncertain, so they are ranges fitted to mapped landslides; the output is the probability FS &lt; 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From data to deliverable: ten resumable steps</a:t>
            </a:r>
            <a:endParaRPr lang="en-US" sz="3000" dirty="0"/>
          </a:p>
        </p:txBody>
      </p:sp>
      <p:sp>
        <p:nvSpPr>
          <p:cNvPr id="3" name="Shape 1"/>
          <p:cNvSpPr/>
          <p:nvPr/>
        </p:nvSpPr>
        <p:spPr>
          <a:xfrm>
            <a:off x="566928"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Text 2"/>
          <p:cNvSpPr/>
          <p:nvPr/>
        </p:nvSpPr>
        <p:spPr>
          <a:xfrm>
            <a:off x="566928"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1–2</a:t>
            </a:r>
            <a:endParaRPr lang="en-US" sz="2000" dirty="0"/>
          </a:p>
        </p:txBody>
      </p:sp>
      <p:sp>
        <p:nvSpPr>
          <p:cNvPr id="5" name="Text 3"/>
          <p:cNvSpPr/>
          <p:nvPr/>
        </p:nvSpPr>
        <p:spPr>
          <a:xfrm>
            <a:off x="612648"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Check &amp;</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download</a:t>
            </a:r>
            <a:endParaRPr lang="en-US" sz="1000" dirty="0"/>
          </a:p>
        </p:txBody>
      </p:sp>
      <p:sp>
        <p:nvSpPr>
          <p:cNvPr id="6" name="Shape 4"/>
          <p:cNvSpPr/>
          <p:nvPr/>
        </p:nvSpPr>
        <p:spPr>
          <a:xfrm>
            <a:off x="1819656" y="2779776"/>
            <a:ext cx="146304" cy="256032"/>
          </a:xfrm>
          <a:prstGeom prst="rightArrow">
            <a:avLst/>
          </a:prstGeom>
          <a:solidFill>
            <a:srgbClr val="1F6F8B"/>
          </a:solidFill>
          <a:ln/>
        </p:spPr>
        <p:txBody>
          <a:bodyPr/>
          <a:lstStyle/>
          <a:p>
            <a:endParaRPr lang="en-US"/>
          </a:p>
        </p:txBody>
      </p:sp>
      <p:sp>
        <p:nvSpPr>
          <p:cNvPr id="7" name="Shape 5"/>
          <p:cNvSpPr/>
          <p:nvPr/>
        </p:nvSpPr>
        <p:spPr>
          <a:xfrm>
            <a:off x="1956816"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8" name="Text 6"/>
          <p:cNvSpPr/>
          <p:nvPr/>
        </p:nvSpPr>
        <p:spPr>
          <a:xfrm>
            <a:off x="1956816"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3</a:t>
            </a:r>
            <a:endParaRPr lang="en-US" sz="2000" dirty="0"/>
          </a:p>
        </p:txBody>
      </p:sp>
      <p:sp>
        <p:nvSpPr>
          <p:cNvPr id="9" name="Text 7"/>
          <p:cNvSpPr/>
          <p:nvPr/>
        </p:nvSpPr>
        <p:spPr>
          <a:xfrm>
            <a:off x="2002536"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Calibrate</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(Gorkha, 30 m)</a:t>
            </a:r>
            <a:endParaRPr lang="en-US" sz="1000" dirty="0"/>
          </a:p>
        </p:txBody>
      </p:sp>
      <p:sp>
        <p:nvSpPr>
          <p:cNvPr id="10" name="Shape 8"/>
          <p:cNvSpPr/>
          <p:nvPr/>
        </p:nvSpPr>
        <p:spPr>
          <a:xfrm>
            <a:off x="3209544" y="2779776"/>
            <a:ext cx="146304" cy="256032"/>
          </a:xfrm>
          <a:prstGeom prst="rightArrow">
            <a:avLst/>
          </a:prstGeom>
          <a:solidFill>
            <a:srgbClr val="1F6F8B"/>
          </a:solidFill>
          <a:ln/>
        </p:spPr>
        <p:txBody>
          <a:bodyPr/>
          <a:lstStyle/>
          <a:p>
            <a:endParaRPr lang="en-US"/>
          </a:p>
        </p:txBody>
      </p:sp>
      <p:sp>
        <p:nvSpPr>
          <p:cNvPr id="11" name="Shape 9"/>
          <p:cNvSpPr/>
          <p:nvPr/>
        </p:nvSpPr>
        <p:spPr>
          <a:xfrm>
            <a:off x="3346704"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2" name="Text 10"/>
          <p:cNvSpPr/>
          <p:nvPr/>
        </p:nvSpPr>
        <p:spPr>
          <a:xfrm>
            <a:off x="3346704"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4</a:t>
            </a:r>
            <a:endParaRPr lang="en-US" sz="2000" dirty="0"/>
          </a:p>
        </p:txBody>
      </p:sp>
      <p:sp>
        <p:nvSpPr>
          <p:cNvPr id="13" name="Text 11"/>
          <p:cNvSpPr/>
          <p:nvPr/>
        </p:nvSpPr>
        <p:spPr>
          <a:xfrm>
            <a:off x="3392424"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Validate</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transfer</a:t>
            </a:r>
            <a:endParaRPr lang="en-US" sz="1000" dirty="0"/>
          </a:p>
        </p:txBody>
      </p:sp>
      <p:sp>
        <p:nvSpPr>
          <p:cNvPr id="14" name="Shape 12"/>
          <p:cNvSpPr/>
          <p:nvPr/>
        </p:nvSpPr>
        <p:spPr>
          <a:xfrm>
            <a:off x="4599432" y="2779776"/>
            <a:ext cx="146304" cy="256032"/>
          </a:xfrm>
          <a:prstGeom prst="rightArrow">
            <a:avLst/>
          </a:prstGeom>
          <a:solidFill>
            <a:srgbClr val="1F6F8B"/>
          </a:solidFill>
          <a:ln/>
        </p:spPr>
        <p:txBody>
          <a:bodyPr/>
          <a:lstStyle/>
          <a:p>
            <a:endParaRPr lang="en-US"/>
          </a:p>
        </p:txBody>
      </p:sp>
      <p:sp>
        <p:nvSpPr>
          <p:cNvPr id="15" name="Shape 13"/>
          <p:cNvSpPr/>
          <p:nvPr/>
        </p:nvSpPr>
        <p:spPr>
          <a:xfrm>
            <a:off x="4736592"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6" name="Text 14"/>
          <p:cNvSpPr/>
          <p:nvPr/>
        </p:nvSpPr>
        <p:spPr>
          <a:xfrm>
            <a:off x="4736592"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5</a:t>
            </a:r>
            <a:endParaRPr lang="en-US" sz="2000" dirty="0"/>
          </a:p>
        </p:txBody>
      </p:sp>
      <p:sp>
        <p:nvSpPr>
          <p:cNvPr id="17" name="Text 15"/>
          <p:cNvSpPr/>
          <p:nvPr/>
        </p:nvSpPr>
        <p:spPr>
          <a:xfrm>
            <a:off x="4782312"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Sweep the</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provinces</a:t>
            </a:r>
            <a:endParaRPr lang="en-US" sz="1000" dirty="0"/>
          </a:p>
        </p:txBody>
      </p:sp>
      <p:sp>
        <p:nvSpPr>
          <p:cNvPr id="18" name="Shape 16"/>
          <p:cNvSpPr/>
          <p:nvPr/>
        </p:nvSpPr>
        <p:spPr>
          <a:xfrm>
            <a:off x="5989320" y="2779776"/>
            <a:ext cx="146304" cy="256032"/>
          </a:xfrm>
          <a:prstGeom prst="rightArrow">
            <a:avLst/>
          </a:prstGeom>
          <a:solidFill>
            <a:srgbClr val="1F6F8B"/>
          </a:solidFill>
          <a:ln/>
        </p:spPr>
        <p:txBody>
          <a:bodyPr/>
          <a:lstStyle/>
          <a:p>
            <a:endParaRPr lang="en-US"/>
          </a:p>
        </p:txBody>
      </p:sp>
      <p:sp>
        <p:nvSpPr>
          <p:cNvPr id="19" name="Shape 17"/>
          <p:cNvSpPr/>
          <p:nvPr/>
        </p:nvSpPr>
        <p:spPr>
          <a:xfrm>
            <a:off x="6126480"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0" name="Text 18"/>
          <p:cNvSpPr/>
          <p:nvPr/>
        </p:nvSpPr>
        <p:spPr>
          <a:xfrm>
            <a:off x="6126480"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6</a:t>
            </a:r>
            <a:endParaRPr lang="en-US" sz="2000" dirty="0"/>
          </a:p>
        </p:txBody>
      </p:sp>
      <p:sp>
        <p:nvSpPr>
          <p:cNvPr id="21" name="Text 19"/>
          <p:cNvSpPr/>
          <p:nvPr/>
        </p:nvSpPr>
        <p:spPr>
          <a:xfrm>
            <a:off x="6172200"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Climate</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scenarios</a:t>
            </a:r>
            <a:endParaRPr lang="en-US" sz="1000" dirty="0"/>
          </a:p>
        </p:txBody>
      </p:sp>
      <p:sp>
        <p:nvSpPr>
          <p:cNvPr id="22" name="Shape 20"/>
          <p:cNvSpPr/>
          <p:nvPr/>
        </p:nvSpPr>
        <p:spPr>
          <a:xfrm>
            <a:off x="7379208" y="2779776"/>
            <a:ext cx="146304" cy="256032"/>
          </a:xfrm>
          <a:prstGeom prst="rightArrow">
            <a:avLst/>
          </a:prstGeom>
          <a:solidFill>
            <a:srgbClr val="1F6F8B"/>
          </a:solidFill>
          <a:ln/>
        </p:spPr>
        <p:txBody>
          <a:bodyPr/>
          <a:lstStyle/>
          <a:p>
            <a:endParaRPr lang="en-US"/>
          </a:p>
        </p:txBody>
      </p:sp>
      <p:sp>
        <p:nvSpPr>
          <p:cNvPr id="23" name="Shape 21"/>
          <p:cNvSpPr/>
          <p:nvPr/>
        </p:nvSpPr>
        <p:spPr>
          <a:xfrm>
            <a:off x="7516368"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4" name="Text 22"/>
          <p:cNvSpPr/>
          <p:nvPr/>
        </p:nvSpPr>
        <p:spPr>
          <a:xfrm>
            <a:off x="7516368"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7–8</a:t>
            </a:r>
            <a:endParaRPr lang="en-US" sz="2000" dirty="0"/>
          </a:p>
        </p:txBody>
      </p:sp>
      <p:sp>
        <p:nvSpPr>
          <p:cNvPr id="25" name="Text 23"/>
          <p:cNvSpPr/>
          <p:nvPr/>
        </p:nvSpPr>
        <p:spPr>
          <a:xfrm>
            <a:off x="7562088"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Settlements</a:t>
            </a:r>
            <a:endParaRPr lang="en-US" sz="1000" dirty="0"/>
          </a:p>
          <a:p>
            <a:pPr marL="0" indent="0" algn="ctr">
              <a:buNone/>
            </a:pPr>
            <a:r>
              <a:rPr lang="en-US" sz="1000" dirty="0">
                <a:solidFill>
                  <a:srgbClr val="101418"/>
                </a:solidFill>
                <a:latin typeface="Calibri" pitchFamily="34" charset="0"/>
                <a:ea typeface="Calibri" pitchFamily="34" charset="-122"/>
                <a:cs typeface="Calibri" pitchFamily="34" charset="-120"/>
              </a:rPr>
              <a:t>&amp; roads</a:t>
            </a:r>
            <a:endParaRPr lang="en-US" sz="1000" dirty="0"/>
          </a:p>
        </p:txBody>
      </p:sp>
      <p:sp>
        <p:nvSpPr>
          <p:cNvPr id="26" name="Shape 24"/>
          <p:cNvSpPr/>
          <p:nvPr/>
        </p:nvSpPr>
        <p:spPr>
          <a:xfrm>
            <a:off x="8769096" y="2779776"/>
            <a:ext cx="146304" cy="256032"/>
          </a:xfrm>
          <a:prstGeom prst="rightArrow">
            <a:avLst/>
          </a:prstGeom>
          <a:solidFill>
            <a:srgbClr val="1F6F8B"/>
          </a:solidFill>
          <a:ln/>
        </p:spPr>
        <p:txBody>
          <a:bodyPr/>
          <a:lstStyle/>
          <a:p>
            <a:endParaRPr lang="en-US"/>
          </a:p>
        </p:txBody>
      </p:sp>
      <p:sp>
        <p:nvSpPr>
          <p:cNvPr id="27" name="Shape 25"/>
          <p:cNvSpPr/>
          <p:nvPr/>
        </p:nvSpPr>
        <p:spPr>
          <a:xfrm>
            <a:off x="8906256"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8" name="Text 26"/>
          <p:cNvSpPr/>
          <p:nvPr/>
        </p:nvSpPr>
        <p:spPr>
          <a:xfrm>
            <a:off x="8906256"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9</a:t>
            </a:r>
            <a:endParaRPr lang="en-US" sz="2000" dirty="0"/>
          </a:p>
        </p:txBody>
      </p:sp>
      <p:sp>
        <p:nvSpPr>
          <p:cNvPr id="29" name="Text 27"/>
          <p:cNvSpPr/>
          <p:nvPr/>
        </p:nvSpPr>
        <p:spPr>
          <a:xfrm>
            <a:off x="8951976"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Web app</a:t>
            </a:r>
            <a:endParaRPr lang="en-US" sz="1000" dirty="0"/>
          </a:p>
        </p:txBody>
      </p:sp>
      <p:sp>
        <p:nvSpPr>
          <p:cNvPr id="30" name="Shape 28"/>
          <p:cNvSpPr/>
          <p:nvPr/>
        </p:nvSpPr>
        <p:spPr>
          <a:xfrm>
            <a:off x="10158984" y="2779776"/>
            <a:ext cx="146304" cy="256032"/>
          </a:xfrm>
          <a:prstGeom prst="rightArrow">
            <a:avLst/>
          </a:prstGeom>
          <a:solidFill>
            <a:srgbClr val="1F6F8B"/>
          </a:solidFill>
          <a:ln/>
        </p:spPr>
        <p:txBody>
          <a:bodyPr/>
          <a:lstStyle/>
          <a:p>
            <a:endParaRPr lang="en-US"/>
          </a:p>
        </p:txBody>
      </p:sp>
      <p:sp>
        <p:nvSpPr>
          <p:cNvPr id="31" name="Shape 29"/>
          <p:cNvSpPr/>
          <p:nvPr/>
        </p:nvSpPr>
        <p:spPr>
          <a:xfrm>
            <a:off x="10296144" y="2103120"/>
            <a:ext cx="1261872" cy="1600200"/>
          </a:xfrm>
          <a:prstGeom prst="roundRect">
            <a:avLst>
              <a:gd name="adj" fmla="val 6522"/>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32" name="Text 30"/>
          <p:cNvSpPr/>
          <p:nvPr/>
        </p:nvSpPr>
        <p:spPr>
          <a:xfrm>
            <a:off x="10296144" y="2240280"/>
            <a:ext cx="1261872" cy="457200"/>
          </a:xfrm>
          <a:prstGeom prst="rect">
            <a:avLst/>
          </a:prstGeom>
          <a:noFill/>
          <a:ln/>
        </p:spPr>
        <p:txBody>
          <a:bodyPr wrap="square" rtlCol="0" anchor="ctr"/>
          <a:lstStyle/>
          <a:p>
            <a:pPr marL="0" indent="0" algn="ctr">
              <a:buNone/>
            </a:pPr>
            <a:r>
              <a:rPr lang="en-US" sz="2000" b="1" dirty="0">
                <a:solidFill>
                  <a:srgbClr val="1F6F8B"/>
                </a:solidFill>
                <a:latin typeface="Cambria" pitchFamily="34" charset="0"/>
                <a:ea typeface="Cambria" pitchFamily="34" charset="-122"/>
                <a:cs typeface="Cambria" pitchFamily="34" charset="-120"/>
              </a:rPr>
              <a:t>10</a:t>
            </a:r>
            <a:endParaRPr lang="en-US" sz="2000" dirty="0"/>
          </a:p>
        </p:txBody>
      </p:sp>
      <p:sp>
        <p:nvSpPr>
          <p:cNvPr id="33" name="Text 31"/>
          <p:cNvSpPr/>
          <p:nvPr/>
        </p:nvSpPr>
        <p:spPr>
          <a:xfrm>
            <a:off x="10341864" y="2743200"/>
            <a:ext cx="1170432" cy="868680"/>
          </a:xfrm>
          <a:prstGeom prst="rect">
            <a:avLst/>
          </a:prstGeom>
          <a:noFill/>
          <a:ln/>
        </p:spPr>
        <p:txBody>
          <a:bodyPr wrap="square" rtlCol="0" anchor="ctr"/>
          <a:lstStyle/>
          <a:p>
            <a:pPr marL="0" indent="0" algn="ctr">
              <a:buNone/>
            </a:pPr>
            <a:r>
              <a:rPr lang="en-US" sz="1000" dirty="0">
                <a:solidFill>
                  <a:srgbClr val="101418"/>
                </a:solidFill>
                <a:latin typeface="Calibri" pitchFamily="34" charset="0"/>
                <a:ea typeface="Calibri" pitchFamily="34" charset="-122"/>
                <a:cs typeface="Calibri" pitchFamily="34" charset="-120"/>
              </a:rPr>
              <a:t>Package</a:t>
            </a:r>
            <a:endParaRPr lang="en-US" sz="1000" dirty="0"/>
          </a:p>
        </p:txBody>
      </p:sp>
      <p:sp>
        <p:nvSpPr>
          <p:cNvPr id="34" name="Shape 32"/>
          <p:cNvSpPr/>
          <p:nvPr/>
        </p:nvSpPr>
        <p:spPr>
          <a:xfrm>
            <a:off x="566928" y="4297680"/>
            <a:ext cx="11055096" cy="1920240"/>
          </a:xfrm>
          <a:prstGeom prst="roundRect">
            <a:avLst>
              <a:gd name="adj" fmla="val 4286"/>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35" name="Text 33"/>
          <p:cNvSpPr/>
          <p:nvPr/>
        </p:nvSpPr>
        <p:spPr>
          <a:xfrm>
            <a:off x="777240" y="4453128"/>
            <a:ext cx="5486400" cy="365760"/>
          </a:xfrm>
          <a:prstGeom prst="rect">
            <a:avLst/>
          </a:prstGeom>
          <a:noFill/>
          <a:ln/>
        </p:spPr>
        <p:txBody>
          <a:bodyPr wrap="square" lIns="0" tIns="0" rIns="0" bIns="0" rtlCol="0" anchor="ctr"/>
          <a:lstStyle/>
          <a:p>
            <a:pPr marL="0" indent="0">
              <a:buNone/>
            </a:pPr>
            <a:r>
              <a:rPr lang="en-US" sz="1500" b="1" dirty="0">
                <a:solidFill>
                  <a:srgbClr val="153E5C"/>
                </a:solidFill>
                <a:latin typeface="Cambria" pitchFamily="34" charset="0"/>
                <a:ea typeface="Cambria" pitchFamily="34" charset="-122"/>
                <a:cs typeface="Cambria" pitchFamily="34" charset="-120"/>
              </a:rPr>
              <a:t>Built for interruption</a:t>
            </a:r>
            <a:endParaRPr lang="en-US" sz="1500" dirty="0"/>
          </a:p>
        </p:txBody>
      </p:sp>
      <p:sp>
        <p:nvSpPr>
          <p:cNvPr id="36" name="Text 34"/>
          <p:cNvSpPr/>
          <p:nvPr/>
        </p:nvSpPr>
        <p:spPr>
          <a:xfrm>
            <a:off x="777240" y="4846320"/>
            <a:ext cx="10607040" cy="12801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101418"/>
                </a:solidFill>
                <a:latin typeface="Calibri" pitchFamily="34" charset="0"/>
                <a:ea typeface="Calibri" pitchFamily="34" charset="-122"/>
                <a:cs typeface="Calibri" pitchFamily="34" charset="-120"/>
              </a:rPr>
              <a:t>A regional pass at 90 m takes days; every stage resumes, and a province with output is skipped.</a:t>
            </a:r>
            <a:endParaRPr lang="en-US" sz="1300" dirty="0"/>
          </a:p>
          <a:p>
            <a:pPr marL="342900" indent="-342900">
              <a:spcAft>
                <a:spcPts val="700"/>
              </a:spcAft>
              <a:buSzPct val="100000"/>
              <a:buChar char="•"/>
            </a:pPr>
            <a:r>
              <a:rPr lang="en-US" sz="1300" dirty="0">
                <a:solidFill>
                  <a:srgbClr val="101418"/>
                </a:solidFill>
                <a:latin typeface="Calibri" pitchFamily="34" charset="0"/>
                <a:ea typeface="Calibri" pitchFamily="34" charset="-122"/>
                <a:cs typeface="Calibri" pitchFamily="34" charset="-120"/>
              </a:rPr>
              <a:t>Provinces are routed on a buffered box and clipped back — border catchments stay intact (measured: 0.00% distortion at a 3 km buffer).</a:t>
            </a:r>
            <a:endParaRPr lang="en-US" sz="1300" dirty="0"/>
          </a:p>
          <a:p>
            <a:pPr marL="342900" indent="-342900">
              <a:spcAft>
                <a:spcPts val="700"/>
              </a:spcAft>
              <a:buSzPct val="100000"/>
              <a:buChar char="•"/>
            </a:pPr>
            <a:r>
              <a:rPr lang="en-US" sz="1300" dirty="0">
                <a:solidFill>
                  <a:srgbClr val="101418"/>
                </a:solidFill>
                <a:latin typeface="Calibri" pitchFamily="34" charset="0"/>
                <a:ea typeface="Calibri" pitchFamily="34" charset="-122"/>
                <a:cs typeface="Calibri" pitchFamily="34" charset="-120"/>
              </a:rPr>
              <a:t>province-refresh is deadline mode: worst provinces first, the app rebuilt after every one — presentable at any moment. --rebuild-pages rolls a page redesign across a finished region in seconds per province.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Evidence, not vibes: measured skill</a:t>
            </a:r>
            <a:endParaRPr lang="en-US" sz="3000" dirty="0"/>
          </a:p>
        </p:txBody>
      </p:sp>
      <p:graphicFrame>
        <p:nvGraphicFramePr>
          <p:cNvPr id="3" name="Chart 0"/>
          <p:cNvGraphicFramePr/>
          <p:nvPr/>
        </p:nvGraphicFramePr>
        <p:xfrm>
          <a:off x="566928" y="1188720"/>
          <a:ext cx="57607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629400" y="1234440"/>
            <a:ext cx="4983480" cy="1417320"/>
          </a:xfrm>
          <a:prstGeom prst="roundRect">
            <a:avLst>
              <a:gd name="adj" fmla="val 5806"/>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5" name="Text 2"/>
          <p:cNvSpPr/>
          <p:nvPr/>
        </p:nvSpPr>
        <p:spPr>
          <a:xfrm>
            <a:off x="6812280" y="1344168"/>
            <a:ext cx="4572000" cy="411480"/>
          </a:xfrm>
          <a:prstGeom prst="rect">
            <a:avLst/>
          </a:prstGeom>
          <a:noFill/>
          <a:ln/>
        </p:spPr>
        <p:txBody>
          <a:bodyPr wrap="square" lIns="0" tIns="0" rIns="0" bIns="0" rtlCol="0" anchor="ctr"/>
          <a:lstStyle/>
          <a:p>
            <a:pPr marL="0" indent="0">
              <a:buNone/>
            </a:pPr>
            <a:r>
              <a:rPr lang="en-US" sz="1900" b="1" dirty="0">
                <a:solidFill>
                  <a:srgbClr val="1F6F8B"/>
                </a:solidFill>
                <a:latin typeface="Cambria" pitchFamily="34" charset="0"/>
                <a:ea typeface="Cambria" pitchFamily="34" charset="-122"/>
                <a:cs typeface="Cambria" pitchFamily="34" charset="-120"/>
              </a:rPr>
              <a:t>0.816 AUC</a:t>
            </a:r>
            <a:endParaRPr lang="en-US" sz="1900" dirty="0"/>
          </a:p>
        </p:txBody>
      </p:sp>
      <p:sp>
        <p:nvSpPr>
          <p:cNvPr id="6" name="Text 3"/>
          <p:cNvSpPr/>
          <p:nvPr/>
        </p:nvSpPr>
        <p:spPr>
          <a:xfrm>
            <a:off x="6812280" y="1755648"/>
            <a:ext cx="4617720" cy="868680"/>
          </a:xfrm>
          <a:prstGeom prst="rect">
            <a:avLst/>
          </a:prstGeom>
          <a:noFill/>
          <a:ln/>
        </p:spPr>
        <p:txBody>
          <a:bodyPr wrap="square" lIns="0" tIns="0" rIns="0" bIns="0" rtlCol="0" anchor="ctr"/>
          <a:lstStyle/>
          <a:p>
            <a:pPr marL="0" indent="0">
              <a:buNone/>
            </a:pPr>
            <a:r>
              <a:rPr lang="en-US" sz="1150" dirty="0">
                <a:solidFill>
                  <a:srgbClr val="5C6672"/>
                </a:solidFill>
                <a:latin typeface="Calibri" pitchFamily="34" charset="0"/>
                <a:ea typeface="Calibri" pitchFamily="34" charset="-122"/>
                <a:cs typeface="Calibri" pitchFamily="34" charset="-120"/>
              </a:rPr>
              <a:t>held-out, spatial-block CV on the Gorkha inventory at 30 m; 71% of slides captured in the worst-ranked 20% of terrain.</a:t>
            </a:r>
            <a:endParaRPr lang="en-US" sz="1150" dirty="0"/>
          </a:p>
        </p:txBody>
      </p:sp>
      <p:sp>
        <p:nvSpPr>
          <p:cNvPr id="7" name="Shape 4"/>
          <p:cNvSpPr/>
          <p:nvPr/>
        </p:nvSpPr>
        <p:spPr>
          <a:xfrm>
            <a:off x="6629400" y="2834640"/>
            <a:ext cx="4983480" cy="1417320"/>
          </a:xfrm>
          <a:prstGeom prst="roundRect">
            <a:avLst>
              <a:gd name="adj" fmla="val 5806"/>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8" name="Text 5"/>
          <p:cNvSpPr/>
          <p:nvPr/>
        </p:nvSpPr>
        <p:spPr>
          <a:xfrm>
            <a:off x="6812280" y="2944368"/>
            <a:ext cx="4572000" cy="411480"/>
          </a:xfrm>
          <a:prstGeom prst="rect">
            <a:avLst/>
          </a:prstGeom>
          <a:noFill/>
          <a:ln/>
        </p:spPr>
        <p:txBody>
          <a:bodyPr wrap="square" lIns="0" tIns="0" rIns="0" bIns="0" rtlCol="0" anchor="ctr"/>
          <a:lstStyle/>
          <a:p>
            <a:pPr marL="0" indent="0">
              <a:buNone/>
            </a:pPr>
            <a:r>
              <a:rPr lang="en-US" sz="1900" b="1" dirty="0">
                <a:solidFill>
                  <a:srgbClr val="1F6F8B"/>
                </a:solidFill>
                <a:latin typeface="Cambria" pitchFamily="34" charset="0"/>
                <a:ea typeface="Cambria" pitchFamily="34" charset="-122"/>
                <a:cs typeface="Cambria" pitchFamily="34" charset="-120"/>
              </a:rPr>
              <a:t>0.780 → 0.656</a:t>
            </a:r>
            <a:endParaRPr lang="en-US" sz="1900" dirty="0"/>
          </a:p>
        </p:txBody>
      </p:sp>
      <p:sp>
        <p:nvSpPr>
          <p:cNvPr id="9" name="Text 6"/>
          <p:cNvSpPr/>
          <p:nvPr/>
        </p:nvSpPr>
        <p:spPr>
          <a:xfrm>
            <a:off x="6812280" y="3355848"/>
            <a:ext cx="4617720" cy="868680"/>
          </a:xfrm>
          <a:prstGeom prst="rect">
            <a:avLst/>
          </a:prstGeom>
          <a:noFill/>
          <a:ln/>
        </p:spPr>
        <p:txBody>
          <a:bodyPr wrap="square" lIns="0" tIns="0" rIns="0" bIns="0" rtlCol="0" anchor="ctr"/>
          <a:lstStyle/>
          <a:p>
            <a:pPr marL="0" indent="0">
              <a:buNone/>
            </a:pPr>
            <a:r>
              <a:rPr lang="en-US" sz="1150" dirty="0">
                <a:solidFill>
                  <a:srgbClr val="5C6672"/>
                </a:solidFill>
                <a:latin typeface="Calibri" pitchFamily="34" charset="0"/>
                <a:ea typeface="Calibri" pitchFamily="34" charset="-122"/>
                <a:cs typeface="Calibri" pitchFamily="34" charset="-120"/>
              </a:rPr>
              <a:t>transfer without refitting: Sikkim, then monsoon-driven Far-West Nepal, 400 km from the fit. Measured, not assumed.</a:t>
            </a:r>
            <a:endParaRPr lang="en-US" sz="1150" dirty="0"/>
          </a:p>
        </p:txBody>
      </p:sp>
      <p:sp>
        <p:nvSpPr>
          <p:cNvPr id="10" name="Shape 7"/>
          <p:cNvSpPr/>
          <p:nvPr/>
        </p:nvSpPr>
        <p:spPr>
          <a:xfrm>
            <a:off x="6629400" y="4434840"/>
            <a:ext cx="4983480" cy="1417320"/>
          </a:xfrm>
          <a:prstGeom prst="roundRect">
            <a:avLst>
              <a:gd name="adj" fmla="val 5806"/>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1" name="Text 8"/>
          <p:cNvSpPr/>
          <p:nvPr/>
        </p:nvSpPr>
        <p:spPr>
          <a:xfrm>
            <a:off x="6812280" y="4544568"/>
            <a:ext cx="4572000" cy="411480"/>
          </a:xfrm>
          <a:prstGeom prst="rect">
            <a:avLst/>
          </a:prstGeom>
          <a:noFill/>
          <a:ln/>
        </p:spPr>
        <p:txBody>
          <a:bodyPr wrap="square" lIns="0" tIns="0" rIns="0" bIns="0" rtlCol="0" anchor="ctr"/>
          <a:lstStyle/>
          <a:p>
            <a:pPr marL="0" indent="0">
              <a:buNone/>
            </a:pPr>
            <a:r>
              <a:rPr lang="en-US" sz="1900" b="1" dirty="0">
                <a:solidFill>
                  <a:srgbClr val="A50026"/>
                </a:solidFill>
                <a:latin typeface="Cambria" pitchFamily="34" charset="0"/>
                <a:ea typeface="Cambria" pitchFamily="34" charset="-122"/>
                <a:cs typeface="Cambria" pitchFamily="34" charset="-120"/>
              </a:rPr>
              <a:t>0.472 AUC</a:t>
            </a:r>
            <a:endParaRPr lang="en-US" sz="1900" dirty="0"/>
          </a:p>
        </p:txBody>
      </p:sp>
      <p:sp>
        <p:nvSpPr>
          <p:cNvPr id="12" name="Text 9"/>
          <p:cNvSpPr/>
          <p:nvPr/>
        </p:nvSpPr>
        <p:spPr>
          <a:xfrm>
            <a:off x="6812280" y="4956048"/>
            <a:ext cx="4617720" cy="868680"/>
          </a:xfrm>
          <a:prstGeom prst="rect">
            <a:avLst/>
          </a:prstGeom>
          <a:noFill/>
          <a:ln/>
        </p:spPr>
        <p:txBody>
          <a:bodyPr wrap="square" lIns="0" tIns="0" rIns="0" bIns="0" rtlCol="0" anchor="ctr"/>
          <a:lstStyle/>
          <a:p>
            <a:pPr marL="0" indent="0">
              <a:buNone/>
            </a:pPr>
            <a:r>
              <a:rPr lang="en-US" sz="1150" dirty="0">
                <a:solidFill>
                  <a:srgbClr val="5C6672"/>
                </a:solidFill>
                <a:latin typeface="Calibri" pitchFamily="34" charset="0"/>
                <a:ea typeface="Calibri" pitchFamily="34" charset="-122"/>
                <a:cs typeface="Calibri" pitchFamily="34" charset="-120"/>
              </a:rPr>
              <a:t>Shimla road-cut failures — worse than chance. Published as a limit, and the reason road mechanisms are flagged, not scored.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Exposure done right: what each asset now carries</a:t>
            </a:r>
            <a:endParaRPr lang="en-US" sz="3000" dirty="0"/>
          </a:p>
        </p:txBody>
      </p:sp>
      <p:sp>
        <p:nvSpPr>
          <p:cNvPr id="3" name="Shape 1"/>
          <p:cNvSpPr/>
          <p:nvPr/>
        </p:nvSpPr>
        <p:spPr>
          <a:xfrm>
            <a:off x="566928" y="1188720"/>
            <a:ext cx="5394960" cy="2286000"/>
          </a:xfrm>
          <a:prstGeom prst="roundRect">
            <a:avLst>
              <a:gd name="adj" fmla="val 36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Shape 2"/>
          <p:cNvSpPr/>
          <p:nvPr/>
        </p:nvSpPr>
        <p:spPr>
          <a:xfrm>
            <a:off x="795528" y="1444752"/>
            <a:ext cx="457200" cy="457200"/>
          </a:xfrm>
          <a:prstGeom prst="ellipse">
            <a:avLst/>
          </a:prstGeom>
          <a:solidFill>
            <a:srgbClr val="1F6F8B"/>
          </a:solidFill>
          <a:ln/>
        </p:spPr>
        <p:txBody>
          <a:bodyPr/>
          <a:lstStyle/>
          <a:p>
            <a:endParaRPr lang="en-US"/>
          </a:p>
        </p:txBody>
      </p:sp>
      <p:sp>
        <p:nvSpPr>
          <p:cNvPr id="5" name="Text 3"/>
          <p:cNvSpPr/>
          <p:nvPr/>
        </p:nvSpPr>
        <p:spPr>
          <a:xfrm>
            <a:off x="795528" y="1444752"/>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435608" y="1417320"/>
            <a:ext cx="4297680" cy="45720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Clipped to the province</a:t>
            </a:r>
            <a:endParaRPr lang="en-US" sz="1600" dirty="0"/>
          </a:p>
        </p:txBody>
      </p:sp>
      <p:sp>
        <p:nvSpPr>
          <p:cNvPr id="7" name="Text 5"/>
          <p:cNvSpPr/>
          <p:nvPr/>
        </p:nvSpPr>
        <p:spPr>
          <a:xfrm>
            <a:off x="1435608" y="1920240"/>
            <a:ext cx="4343400" cy="14173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Settlements and roads outside the boundary are a neighbour's; they are dropped from scores, maps and counts — nothing is counted twice.</a:t>
            </a:r>
            <a:endParaRPr lang="en-US" sz="1250" dirty="0"/>
          </a:p>
        </p:txBody>
      </p:sp>
      <p:sp>
        <p:nvSpPr>
          <p:cNvPr id="8" name="Shape 6"/>
          <p:cNvSpPr/>
          <p:nvPr/>
        </p:nvSpPr>
        <p:spPr>
          <a:xfrm>
            <a:off x="6236208" y="1188720"/>
            <a:ext cx="5394960" cy="2286000"/>
          </a:xfrm>
          <a:prstGeom prst="roundRect">
            <a:avLst>
              <a:gd name="adj" fmla="val 36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9" name="Shape 7"/>
          <p:cNvSpPr/>
          <p:nvPr/>
        </p:nvSpPr>
        <p:spPr>
          <a:xfrm>
            <a:off x="6464808" y="1444752"/>
            <a:ext cx="457200" cy="457200"/>
          </a:xfrm>
          <a:prstGeom prst="ellipse">
            <a:avLst/>
          </a:prstGeom>
          <a:solidFill>
            <a:srgbClr val="1F6F8B"/>
          </a:solidFill>
          <a:ln/>
        </p:spPr>
        <p:txBody>
          <a:bodyPr/>
          <a:lstStyle/>
          <a:p>
            <a:endParaRPr lang="en-US"/>
          </a:p>
        </p:txBody>
      </p:sp>
      <p:sp>
        <p:nvSpPr>
          <p:cNvPr id="10" name="Text 8"/>
          <p:cNvSpPr/>
          <p:nvPr/>
        </p:nvSpPr>
        <p:spPr>
          <a:xfrm>
            <a:off x="6464808" y="1444752"/>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p:nvPr/>
        </p:nvSpPr>
        <p:spPr>
          <a:xfrm>
            <a:off x="7104888" y="1417320"/>
            <a:ext cx="4297680" cy="45720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Footprints, not centroids</a:t>
            </a:r>
            <a:endParaRPr lang="en-US" sz="1600" dirty="0"/>
          </a:p>
        </p:txBody>
      </p:sp>
      <p:sp>
        <p:nvSpPr>
          <p:cNvPr id="12" name="Text 10"/>
          <p:cNvSpPr/>
          <p:nvPr/>
        </p:nvSpPr>
        <p:spPr>
          <a:xfrm>
            <a:off x="7104888" y="1920240"/>
            <a:ext cx="4343400" cy="14173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A town is scored over a disc scaled to its type and headlined at the 90th-percentile cell: the exposed edge, not the safe centre.</a:t>
            </a:r>
            <a:endParaRPr lang="en-US" sz="1250" dirty="0"/>
          </a:p>
        </p:txBody>
      </p:sp>
      <p:sp>
        <p:nvSpPr>
          <p:cNvPr id="13" name="Shape 11"/>
          <p:cNvSpPr/>
          <p:nvPr/>
        </p:nvSpPr>
        <p:spPr>
          <a:xfrm>
            <a:off x="566928" y="3749040"/>
            <a:ext cx="5394960" cy="2286000"/>
          </a:xfrm>
          <a:prstGeom prst="roundRect">
            <a:avLst>
              <a:gd name="adj" fmla="val 36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4" name="Shape 12"/>
          <p:cNvSpPr/>
          <p:nvPr/>
        </p:nvSpPr>
        <p:spPr>
          <a:xfrm>
            <a:off x="795528" y="4005072"/>
            <a:ext cx="457200" cy="457200"/>
          </a:xfrm>
          <a:prstGeom prst="ellipse">
            <a:avLst/>
          </a:prstGeom>
          <a:solidFill>
            <a:srgbClr val="1F6F8B"/>
          </a:solidFill>
          <a:ln/>
        </p:spPr>
        <p:txBody>
          <a:bodyPr/>
          <a:lstStyle/>
          <a:p>
            <a:endParaRPr lang="en-US"/>
          </a:p>
        </p:txBody>
      </p:sp>
      <p:sp>
        <p:nvSpPr>
          <p:cNvPr id="15" name="Text 13"/>
          <p:cNvSpPr/>
          <p:nvPr/>
        </p:nvSpPr>
        <p:spPr>
          <a:xfrm>
            <a:off x="795528" y="4005072"/>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1435608" y="3977640"/>
            <a:ext cx="4297680" cy="45720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The threat has a direction</a:t>
            </a:r>
            <a:endParaRPr lang="en-US" sz="1600" dirty="0"/>
          </a:p>
        </p:txBody>
      </p:sp>
      <p:sp>
        <p:nvSpPr>
          <p:cNvPr id="17" name="Text 15"/>
          <p:cNvSpPr/>
          <p:nvPr/>
        </p:nvSpPr>
        <p:spPr>
          <a:xfrm>
            <a:off x="1435608" y="4480560"/>
            <a:ext cx="4343400" cy="14173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Each asset reports the compass sector its worst weighted sources sit in — 'from the NE' is something a field visit can walk.</a:t>
            </a:r>
            <a:endParaRPr lang="en-US" sz="1250" dirty="0"/>
          </a:p>
        </p:txBody>
      </p:sp>
      <p:sp>
        <p:nvSpPr>
          <p:cNvPr id="18" name="Shape 16"/>
          <p:cNvSpPr/>
          <p:nvPr/>
        </p:nvSpPr>
        <p:spPr>
          <a:xfrm>
            <a:off x="6236208" y="3749040"/>
            <a:ext cx="5394960" cy="2286000"/>
          </a:xfrm>
          <a:prstGeom prst="roundRect">
            <a:avLst>
              <a:gd name="adj" fmla="val 3600"/>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9" name="Shape 17"/>
          <p:cNvSpPr/>
          <p:nvPr/>
        </p:nvSpPr>
        <p:spPr>
          <a:xfrm>
            <a:off x="6464808" y="4005072"/>
            <a:ext cx="457200" cy="457200"/>
          </a:xfrm>
          <a:prstGeom prst="ellipse">
            <a:avLst/>
          </a:prstGeom>
          <a:solidFill>
            <a:srgbClr val="1F6F8B"/>
          </a:solidFill>
          <a:ln/>
        </p:spPr>
        <p:txBody>
          <a:bodyPr/>
          <a:lstStyle/>
          <a:p>
            <a:endParaRPr lang="en-US"/>
          </a:p>
        </p:txBody>
      </p:sp>
      <p:sp>
        <p:nvSpPr>
          <p:cNvPr id="20" name="Text 18"/>
          <p:cNvSpPr/>
          <p:nvPr/>
        </p:nvSpPr>
        <p:spPr>
          <a:xfrm>
            <a:off x="6464808" y="4005072"/>
            <a:ext cx="457200" cy="45720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1" name="Text 19"/>
          <p:cNvSpPr/>
          <p:nvPr/>
        </p:nvSpPr>
        <p:spPr>
          <a:xfrm>
            <a:off x="7104888" y="3977640"/>
            <a:ext cx="4297680" cy="45720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Supply, not just fraction</a:t>
            </a:r>
            <a:endParaRPr lang="en-US" sz="1600" dirty="0"/>
          </a:p>
        </p:txBody>
      </p:sp>
      <p:sp>
        <p:nvSpPr>
          <p:cNvPr id="22" name="Text 20"/>
          <p:cNvSpPr/>
          <p:nvPr/>
        </p:nvSpPr>
        <p:spPr>
          <a:xfrm>
            <a:off x="7104888" y="4480560"/>
            <a:ext cx="4343400" cy="14173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Expected unstable area positioned to reach the asset (hectares): thirty source cells stop looking like three thousand.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Roads fail three ways — the line style says which</a:t>
            </a:r>
            <a:endParaRPr lang="en-US" sz="3000" dirty="0"/>
          </a:p>
        </p:txBody>
      </p:sp>
      <p:sp>
        <p:nvSpPr>
          <p:cNvPr id="3" name="Shape 1"/>
          <p:cNvSpPr/>
          <p:nvPr/>
        </p:nvSpPr>
        <p:spPr>
          <a:xfrm>
            <a:off x="566928" y="1234440"/>
            <a:ext cx="3611880" cy="4069080"/>
          </a:xfrm>
          <a:prstGeom prst="roundRect">
            <a:avLst>
              <a:gd name="adj" fmla="val 2278"/>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Shape 2"/>
          <p:cNvSpPr/>
          <p:nvPr/>
        </p:nvSpPr>
        <p:spPr>
          <a:xfrm>
            <a:off x="1344168" y="1828800"/>
            <a:ext cx="2057400" cy="146304"/>
          </a:xfrm>
          <a:prstGeom prst="roundRect">
            <a:avLst>
              <a:gd name="adj" fmla="val 50000"/>
            </a:avLst>
          </a:prstGeom>
          <a:solidFill>
            <a:srgbClr val="A50026"/>
          </a:solidFill>
          <a:ln/>
        </p:spPr>
        <p:txBody>
          <a:bodyPr/>
          <a:lstStyle/>
          <a:p>
            <a:endParaRPr lang="en-US"/>
          </a:p>
        </p:txBody>
      </p:sp>
      <p:sp>
        <p:nvSpPr>
          <p:cNvPr id="5" name="Text 3"/>
          <p:cNvSpPr/>
          <p:nvPr/>
        </p:nvSpPr>
        <p:spPr>
          <a:xfrm>
            <a:off x="749808" y="2514600"/>
            <a:ext cx="3246120" cy="457200"/>
          </a:xfrm>
          <a:prstGeom prst="rect">
            <a:avLst/>
          </a:prstGeom>
          <a:noFill/>
          <a:ln/>
        </p:spPr>
        <p:txBody>
          <a:bodyPr wrap="square" rtlCol="0" anchor="ctr"/>
          <a:lstStyle/>
          <a:p>
            <a:pPr marL="0" indent="0" algn="ctr">
              <a:buNone/>
            </a:pPr>
            <a:r>
              <a:rPr lang="en-US" sz="1700" b="1" dirty="0">
                <a:solidFill>
                  <a:srgbClr val="153E5C"/>
                </a:solidFill>
                <a:latin typeface="Cambria" pitchFamily="34" charset="0"/>
                <a:ea typeface="Cambria" pitchFamily="34" charset="-122"/>
                <a:cs typeface="Cambria" pitchFamily="34" charset="-120"/>
              </a:rPr>
              <a:t>Burial from above</a:t>
            </a:r>
            <a:endParaRPr lang="en-US" sz="1700" dirty="0"/>
          </a:p>
        </p:txBody>
      </p:sp>
      <p:sp>
        <p:nvSpPr>
          <p:cNvPr id="6" name="Text 4"/>
          <p:cNvSpPr/>
          <p:nvPr/>
        </p:nvSpPr>
        <p:spPr>
          <a:xfrm>
            <a:off x="841248" y="3017520"/>
            <a:ext cx="3063240" cy="1554480"/>
          </a:xfrm>
          <a:prstGeom prst="rect">
            <a:avLst/>
          </a:prstGeom>
          <a:noFill/>
          <a:ln/>
        </p:spPr>
        <p:txBody>
          <a:bodyPr wrap="square" rtlCol="0" anchor="ctr"/>
          <a:lstStyle/>
          <a:p>
            <a:pPr marL="0" indent="0">
              <a:buNone/>
            </a:pPr>
            <a:r>
              <a:rPr lang="en-US" sz="1200" dirty="0">
                <a:solidFill>
                  <a:srgbClr val="5C6672"/>
                </a:solidFill>
                <a:latin typeface="Calibri" pitchFamily="34" charset="0"/>
                <a:ea typeface="Calibri" pitchFamily="34" charset="-122"/>
                <a:cs typeface="Calibri" pitchFamily="34" charset="-120"/>
              </a:rPr>
              <a:t>The reach score: unstable ground positioned to deliver onto the road. This is the coloured line itself.</a:t>
            </a:r>
            <a:endParaRPr lang="en-US" sz="1200" dirty="0"/>
          </a:p>
        </p:txBody>
      </p:sp>
      <p:sp>
        <p:nvSpPr>
          <p:cNvPr id="7" name="Text 5"/>
          <p:cNvSpPr/>
          <p:nvPr/>
        </p:nvSpPr>
        <p:spPr>
          <a:xfrm>
            <a:off x="841248" y="4663440"/>
            <a:ext cx="3063240" cy="411480"/>
          </a:xfrm>
          <a:prstGeom prst="rect">
            <a:avLst/>
          </a:prstGeom>
          <a:noFill/>
          <a:ln/>
        </p:spPr>
        <p:txBody>
          <a:bodyPr wrap="square" rtlCol="0" anchor="ctr"/>
          <a:lstStyle/>
          <a:p>
            <a:pPr marL="0" indent="0" algn="ctr">
              <a:buNone/>
            </a:pPr>
            <a:r>
              <a:rPr lang="en-US" sz="1100" i="1" dirty="0">
                <a:solidFill>
                  <a:srgbClr val="1F6F8B"/>
                </a:solidFill>
                <a:latin typeface="Calibri" pitchFamily="34" charset="0"/>
                <a:ea typeface="Calibri" pitchFamily="34" charset="-122"/>
                <a:cs typeface="Calibri" pitchFamily="34" charset="-120"/>
              </a:rPr>
              <a:t>scored by the model</a:t>
            </a:r>
            <a:endParaRPr lang="en-US" sz="1100" dirty="0"/>
          </a:p>
        </p:txBody>
      </p:sp>
      <p:sp>
        <p:nvSpPr>
          <p:cNvPr id="8" name="Shape 6"/>
          <p:cNvSpPr/>
          <p:nvPr/>
        </p:nvSpPr>
        <p:spPr>
          <a:xfrm>
            <a:off x="4425696" y="1234440"/>
            <a:ext cx="3611880" cy="4069080"/>
          </a:xfrm>
          <a:prstGeom prst="roundRect">
            <a:avLst>
              <a:gd name="adj" fmla="val 2278"/>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9100" name="mech0"/>
          <p:cNvSpPr/>
          <p:nvPr/>
        </p:nvSpPr>
        <p:spPr>
          <a:xfrm>
            <a:off x="5202936" y="1876806"/>
            <a:ext cx="390000" cy="146304"/>
          </a:xfrm>
          <a:prstGeom prst="roundRect">
            <a:avLst/>
          </a:prstGeom>
          <a:solidFill>
            <a:srgbClr val="A50026"/>
          </a:solidFill>
          <a:ln>
            <a:noFill/>
          </a:ln>
        </p:spPr>
        <p:txBody>
          <a:bodyPr/>
          <a:lstStyle/>
          <a:p/>
        </p:txBody>
      </p:sp>
      <p:sp>
        <p:nvSpPr>
          <p:cNvPr id="9101" name="mech1"/>
          <p:cNvSpPr/>
          <p:nvPr/>
        </p:nvSpPr>
        <p:spPr>
          <a:xfrm>
            <a:off x="5758536" y="1876806"/>
            <a:ext cx="390000" cy="146304"/>
          </a:xfrm>
          <a:prstGeom prst="roundRect">
            <a:avLst/>
          </a:prstGeom>
          <a:solidFill>
            <a:srgbClr val="A50026"/>
          </a:solidFill>
          <a:ln>
            <a:noFill/>
          </a:ln>
        </p:spPr>
        <p:txBody>
          <a:bodyPr/>
          <a:lstStyle/>
          <a:p/>
        </p:txBody>
      </p:sp>
      <p:sp>
        <p:nvSpPr>
          <p:cNvPr id="9102" name="mech2"/>
          <p:cNvSpPr/>
          <p:nvPr/>
        </p:nvSpPr>
        <p:spPr>
          <a:xfrm>
            <a:off x="6314136" y="1876806"/>
            <a:ext cx="390000" cy="146304"/>
          </a:xfrm>
          <a:prstGeom prst="roundRect">
            <a:avLst/>
          </a:prstGeom>
          <a:solidFill>
            <a:srgbClr val="A50026"/>
          </a:solidFill>
          <a:ln>
            <a:noFill/>
          </a:ln>
        </p:spPr>
        <p:txBody>
          <a:bodyPr/>
          <a:lstStyle/>
          <a:p/>
        </p:txBody>
      </p:sp>
      <p:sp>
        <p:nvSpPr>
          <p:cNvPr id="9103" name="mech3"/>
          <p:cNvSpPr/>
          <p:nvPr/>
        </p:nvSpPr>
        <p:spPr>
          <a:xfrm>
            <a:off x="6869736" y="1876806"/>
            <a:ext cx="390000" cy="146304"/>
          </a:xfrm>
          <a:prstGeom prst="roundRect">
            <a:avLst/>
          </a:prstGeom>
          <a:solidFill>
            <a:srgbClr val="A50026"/>
          </a:solidFill>
          <a:ln>
            <a:noFill/>
          </a:ln>
        </p:spPr>
        <p:txBody>
          <a:bodyPr/>
          <a:lstStyle/>
          <a:p/>
        </p:txBody>
      </p:sp>
      <p:sp>
        <p:nvSpPr>
          <p:cNvPr id="10" name="Text 8"/>
          <p:cNvSpPr/>
          <p:nvPr/>
        </p:nvSpPr>
        <p:spPr>
          <a:xfrm>
            <a:off x="4608576" y="2514600"/>
            <a:ext cx="3246120" cy="457200"/>
          </a:xfrm>
          <a:prstGeom prst="rect">
            <a:avLst/>
          </a:prstGeom>
          <a:noFill/>
          <a:ln/>
        </p:spPr>
        <p:txBody>
          <a:bodyPr wrap="square" rtlCol="0" anchor="ctr"/>
          <a:lstStyle/>
          <a:p>
            <a:pPr marL="0" indent="0" algn="ctr">
              <a:buNone/>
            </a:pPr>
            <a:r>
              <a:rPr lang="en-US" sz="1700" b="1" dirty="0">
                <a:solidFill>
                  <a:srgbClr val="153E5C"/>
                </a:solidFill>
                <a:latin typeface="Cambria" pitchFamily="34" charset="0"/>
                <a:ea typeface="Cambria" pitchFamily="34" charset="-122"/>
                <a:cs typeface="Cambria" pitchFamily="34" charset="-120"/>
              </a:rPr>
              <a:t>Cut-slope</a:t>
            </a:r>
            <a:endParaRPr lang="en-US" sz="1700" dirty="0"/>
          </a:p>
        </p:txBody>
      </p:sp>
      <p:sp>
        <p:nvSpPr>
          <p:cNvPr id="11" name="Text 9"/>
          <p:cNvSpPr/>
          <p:nvPr/>
        </p:nvSpPr>
        <p:spPr>
          <a:xfrm>
            <a:off x="4700016" y="3017520"/>
            <a:ext cx="3063240" cy="1554480"/>
          </a:xfrm>
          <a:prstGeom prst="rect">
            <a:avLst/>
          </a:prstGeom>
          <a:noFill/>
          <a:ln/>
        </p:spPr>
        <p:txBody>
          <a:bodyPr wrap="square" rtlCol="0" anchor="ctr"/>
          <a:lstStyle/>
          <a:p>
            <a:pPr marL="0" indent="0">
              <a:buNone/>
            </a:pPr>
            <a:r>
              <a:rPr lang="en-US" sz="1200" dirty="0">
                <a:solidFill>
                  <a:srgbClr val="5C6672"/>
                </a:solidFill>
                <a:latin typeface="Calibri" pitchFamily="34" charset="0"/>
                <a:ea typeface="Calibri" pitchFamily="34" charset="-122"/>
                <a:cs typeface="Calibri" pitchFamily="34" charset="-120"/>
              </a:rPr>
              <a:t>Steep ground immediately above the segment. The model measurably cannot score road cuts (Shimla), so this marks its blind spot.</a:t>
            </a:r>
            <a:endParaRPr lang="en-US" sz="1200" dirty="0"/>
          </a:p>
        </p:txBody>
      </p:sp>
      <p:sp>
        <p:nvSpPr>
          <p:cNvPr id="12" name="Text 10"/>
          <p:cNvSpPr/>
          <p:nvPr/>
        </p:nvSpPr>
        <p:spPr>
          <a:xfrm>
            <a:off x="4700016" y="4663440"/>
            <a:ext cx="3063240" cy="411480"/>
          </a:xfrm>
          <a:prstGeom prst="rect">
            <a:avLst/>
          </a:prstGeom>
          <a:noFill/>
          <a:ln/>
        </p:spPr>
        <p:txBody>
          <a:bodyPr wrap="square" rtlCol="0" anchor="ctr"/>
          <a:lstStyle/>
          <a:p>
            <a:pPr marL="0" indent="0" algn="ctr">
              <a:buNone/>
            </a:pPr>
            <a:r>
              <a:rPr lang="en-US" sz="1100" i="1" dirty="0">
                <a:solidFill>
                  <a:srgbClr val="1F6F8B"/>
                </a:solidFill>
                <a:latin typeface="Calibri" pitchFamily="34" charset="0"/>
                <a:ea typeface="Calibri" pitchFamily="34" charset="-122"/>
                <a:cs typeface="Calibri" pitchFamily="34" charset="-120"/>
              </a:rPr>
              <a:t>geometric flag — &gt;35° adjacent</a:t>
            </a:r>
            <a:endParaRPr lang="en-US" sz="1100" dirty="0"/>
          </a:p>
        </p:txBody>
      </p:sp>
      <p:sp>
        <p:nvSpPr>
          <p:cNvPr id="13" name="Shape 11"/>
          <p:cNvSpPr/>
          <p:nvPr/>
        </p:nvSpPr>
        <p:spPr>
          <a:xfrm>
            <a:off x="8284464" y="1234440"/>
            <a:ext cx="3611880" cy="4069080"/>
          </a:xfrm>
          <a:prstGeom prst="roundRect">
            <a:avLst>
              <a:gd name="adj" fmla="val 2278"/>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9110" name="mech10"/>
          <p:cNvSpPr/>
          <p:nvPr/>
        </p:nvSpPr>
        <p:spPr>
          <a:xfrm>
            <a:off x="9066276" y="1847088"/>
            <a:ext cx="146304" cy="146304"/>
          </a:xfrm>
          <a:prstGeom prst="ellipse">
            <a:avLst/>
          </a:prstGeom>
          <a:solidFill>
            <a:srgbClr val="A50026"/>
          </a:solidFill>
          <a:ln>
            <a:noFill/>
          </a:ln>
        </p:spPr>
        <p:txBody>
          <a:bodyPr/>
          <a:lstStyle/>
          <a:p/>
        </p:txBody>
      </p:sp>
      <p:sp>
        <p:nvSpPr>
          <p:cNvPr id="9111" name="mech11"/>
          <p:cNvSpPr/>
          <p:nvPr/>
        </p:nvSpPr>
        <p:spPr>
          <a:xfrm>
            <a:off x="9384792" y="1847088"/>
            <a:ext cx="146304" cy="146304"/>
          </a:xfrm>
          <a:prstGeom prst="ellipse">
            <a:avLst/>
          </a:prstGeom>
          <a:solidFill>
            <a:srgbClr val="A50026"/>
          </a:solidFill>
          <a:ln>
            <a:noFill/>
          </a:ln>
        </p:spPr>
        <p:txBody>
          <a:bodyPr/>
          <a:lstStyle/>
          <a:p/>
        </p:txBody>
      </p:sp>
      <p:sp>
        <p:nvSpPr>
          <p:cNvPr id="9112" name="mech12"/>
          <p:cNvSpPr/>
          <p:nvPr/>
        </p:nvSpPr>
        <p:spPr>
          <a:xfrm>
            <a:off x="9703308" y="1847088"/>
            <a:ext cx="146304" cy="146304"/>
          </a:xfrm>
          <a:prstGeom prst="ellipse">
            <a:avLst/>
          </a:prstGeom>
          <a:solidFill>
            <a:srgbClr val="A50026"/>
          </a:solidFill>
          <a:ln>
            <a:noFill/>
          </a:ln>
        </p:spPr>
        <p:txBody>
          <a:bodyPr/>
          <a:lstStyle/>
          <a:p/>
        </p:txBody>
      </p:sp>
      <p:sp>
        <p:nvSpPr>
          <p:cNvPr id="9113" name="mech13"/>
          <p:cNvSpPr/>
          <p:nvPr/>
        </p:nvSpPr>
        <p:spPr>
          <a:xfrm>
            <a:off x="10021824" y="1847088"/>
            <a:ext cx="146304" cy="146304"/>
          </a:xfrm>
          <a:prstGeom prst="ellipse">
            <a:avLst/>
          </a:prstGeom>
          <a:solidFill>
            <a:srgbClr val="A50026"/>
          </a:solidFill>
          <a:ln>
            <a:noFill/>
          </a:ln>
        </p:spPr>
        <p:txBody>
          <a:bodyPr/>
          <a:lstStyle/>
          <a:p/>
        </p:txBody>
      </p:sp>
      <p:sp>
        <p:nvSpPr>
          <p:cNvPr id="9114" name="mech14"/>
          <p:cNvSpPr/>
          <p:nvPr/>
        </p:nvSpPr>
        <p:spPr>
          <a:xfrm>
            <a:off x="10340340" y="1847088"/>
            <a:ext cx="146304" cy="146304"/>
          </a:xfrm>
          <a:prstGeom prst="ellipse">
            <a:avLst/>
          </a:prstGeom>
          <a:solidFill>
            <a:srgbClr val="A50026"/>
          </a:solidFill>
          <a:ln>
            <a:noFill/>
          </a:ln>
        </p:spPr>
        <p:txBody>
          <a:bodyPr/>
          <a:lstStyle/>
          <a:p/>
        </p:txBody>
      </p:sp>
      <p:sp>
        <p:nvSpPr>
          <p:cNvPr id="9115" name="mech15"/>
          <p:cNvSpPr/>
          <p:nvPr/>
        </p:nvSpPr>
        <p:spPr>
          <a:xfrm>
            <a:off x="10658856" y="1847088"/>
            <a:ext cx="146304" cy="146304"/>
          </a:xfrm>
          <a:prstGeom prst="ellipse">
            <a:avLst/>
          </a:prstGeom>
          <a:solidFill>
            <a:srgbClr val="A50026"/>
          </a:solidFill>
          <a:ln>
            <a:noFill/>
          </a:ln>
        </p:spPr>
        <p:txBody>
          <a:bodyPr/>
          <a:lstStyle/>
          <a:p/>
        </p:txBody>
      </p:sp>
      <p:sp>
        <p:nvSpPr>
          <p:cNvPr id="9116" name="mech16"/>
          <p:cNvSpPr/>
          <p:nvPr/>
        </p:nvSpPr>
        <p:spPr>
          <a:xfrm>
            <a:off x="10977372" y="1847088"/>
            <a:ext cx="146304" cy="146304"/>
          </a:xfrm>
          <a:prstGeom prst="ellipse">
            <a:avLst/>
          </a:prstGeom>
          <a:solidFill>
            <a:srgbClr val="A50026"/>
          </a:solidFill>
          <a:ln>
            <a:noFill/>
          </a:ln>
        </p:spPr>
        <p:txBody>
          <a:bodyPr/>
          <a:lstStyle/>
          <a:p/>
        </p:txBody>
      </p:sp>
      <p:sp>
        <p:nvSpPr>
          <p:cNvPr id="15" name="Text 13"/>
          <p:cNvSpPr/>
          <p:nvPr/>
        </p:nvSpPr>
        <p:spPr>
          <a:xfrm>
            <a:off x="8467344" y="2514600"/>
            <a:ext cx="3246120" cy="457200"/>
          </a:xfrm>
          <a:prstGeom prst="rect">
            <a:avLst/>
          </a:prstGeom>
          <a:noFill/>
          <a:ln/>
        </p:spPr>
        <p:txBody>
          <a:bodyPr wrap="square" rtlCol="0" anchor="ctr"/>
          <a:lstStyle/>
          <a:p>
            <a:pPr marL="0" indent="0" algn="ctr">
              <a:buNone/>
            </a:pPr>
            <a:r>
              <a:rPr lang="en-US" sz="1700" b="1" dirty="0">
                <a:solidFill>
                  <a:srgbClr val="153E5C"/>
                </a:solidFill>
                <a:latin typeface="Cambria" pitchFamily="34" charset="0"/>
                <a:ea typeface="Cambria" pitchFamily="34" charset="-122"/>
                <a:cs typeface="Cambria" pitchFamily="34" charset="-120"/>
              </a:rPr>
              <a:t>Washout</a:t>
            </a:r>
            <a:endParaRPr lang="en-US" sz="1700" dirty="0"/>
          </a:p>
        </p:txBody>
      </p:sp>
      <p:sp>
        <p:nvSpPr>
          <p:cNvPr id="16" name="Text 14"/>
          <p:cNvSpPr/>
          <p:nvPr/>
        </p:nvSpPr>
        <p:spPr>
          <a:xfrm>
            <a:off x="8558784" y="3017520"/>
            <a:ext cx="3063240" cy="1554480"/>
          </a:xfrm>
          <a:prstGeom prst="rect">
            <a:avLst/>
          </a:prstGeom>
          <a:noFill/>
          <a:ln/>
        </p:spPr>
        <p:txBody>
          <a:bodyPr wrap="square" rtlCol="0" anchor="ctr"/>
          <a:lstStyle/>
          <a:p>
            <a:pPr marL="0" indent="0">
              <a:buNone/>
            </a:pPr>
            <a:r>
              <a:rPr lang="en-US" sz="1200" dirty="0">
                <a:solidFill>
                  <a:srgbClr val="5C6672"/>
                </a:solidFill>
                <a:latin typeface="Calibri" pitchFamily="34" charset="0"/>
                <a:ea typeface="Calibri" pitchFamily="34" charset="-122"/>
                <a:cs typeface="Calibri" pitchFamily="34" charset="-120"/>
              </a:rPr>
              <a:t>The segment touches a mapped channel. Culverts are taken by debris flows arriving along the drainage, from beyond any search radius.</a:t>
            </a:r>
            <a:endParaRPr lang="en-US" sz="1200" dirty="0"/>
          </a:p>
        </p:txBody>
      </p:sp>
      <p:sp>
        <p:nvSpPr>
          <p:cNvPr id="17" name="Text 15"/>
          <p:cNvSpPr/>
          <p:nvPr/>
        </p:nvSpPr>
        <p:spPr>
          <a:xfrm>
            <a:off x="8558784" y="4663440"/>
            <a:ext cx="3063240" cy="411480"/>
          </a:xfrm>
          <a:prstGeom prst="rect">
            <a:avLst/>
          </a:prstGeom>
          <a:noFill/>
          <a:ln/>
        </p:spPr>
        <p:txBody>
          <a:bodyPr wrap="square" rtlCol="0" anchor="ctr"/>
          <a:lstStyle/>
          <a:p>
            <a:pPr marL="0" indent="0" algn="ctr">
              <a:buNone/>
            </a:pPr>
            <a:r>
              <a:rPr lang="en-US" sz="1100" i="1" dirty="0">
                <a:solidFill>
                  <a:srgbClr val="1F6F8B"/>
                </a:solidFill>
                <a:latin typeface="Calibri" pitchFamily="34" charset="0"/>
                <a:ea typeface="Calibri" pitchFamily="34" charset="-122"/>
                <a:cs typeface="Calibri" pitchFamily="34" charset="-120"/>
              </a:rPr>
              <a:t>geometric flag — SCA &gt; 5,000 m</a:t>
            </a:r>
            <a:endParaRPr lang="en-US" sz="1100" dirty="0"/>
          </a:p>
        </p:txBody>
      </p:sp>
      <p:sp>
        <p:nvSpPr>
          <p:cNvPr id="18" name="Shape 16"/>
          <p:cNvSpPr/>
          <p:nvPr/>
        </p:nvSpPr>
        <p:spPr>
          <a:xfrm>
            <a:off x="566928" y="5623560"/>
            <a:ext cx="11055096" cy="868680"/>
          </a:xfrm>
          <a:prstGeom prst="roundRect">
            <a:avLst>
              <a:gd name="adj" fmla="val 9474"/>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9" name="Text 17"/>
          <p:cNvSpPr/>
          <p:nvPr/>
        </p:nvSpPr>
        <p:spPr>
          <a:xfrm>
            <a:off x="822960" y="5760720"/>
            <a:ext cx="10607040" cy="594360"/>
          </a:xfrm>
          <a:prstGeom prst="rect">
            <a:avLst/>
          </a:prstGeom>
          <a:noFill/>
          <a:ln/>
        </p:spPr>
        <p:txBody>
          <a:bodyPr wrap="square" lIns="0" tIns="0" rIns="0" bIns="0" rtlCol="0" anchor="ctr"/>
          <a:lstStyle/>
          <a:p>
            <a:pPr marL="0" indent="0">
              <a:buNone/>
            </a:pPr>
            <a:r>
              <a:rPr lang="en-US" sz="1350" dirty="0">
                <a:solidFill>
                  <a:srgbClr val="101418"/>
                </a:solidFill>
                <a:latin typeface="Calibri" pitchFamily="34" charset="0"/>
                <a:ea typeface="Calibri" pitchFamily="34" charset="-122"/>
                <a:cs typeface="Calibri" pitchFamily="34" charset="-120"/>
              </a:rPr>
              <a:t>On the map: the stroke pattern names the mechanism — solid burial only, dashed cut-slope, dotted washout, dash-dot both — under a dark casing that appears as you zoom in; colour stays the segment's exposure. A red dotted line is a crossing fed by ground the model calls unstable.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Discipline: features ship OFF until a number says yes</a:t>
            </a:r>
            <a:endParaRPr lang="en-US" sz="3000" dirty="0"/>
          </a:p>
        </p:txBody>
      </p:sp>
      <p:sp>
        <p:nvSpPr>
          <p:cNvPr id="3" name="Shape 1"/>
          <p:cNvSpPr/>
          <p:nvPr/>
        </p:nvSpPr>
        <p:spPr>
          <a:xfrm>
            <a:off x="566928" y="1143000"/>
            <a:ext cx="11055096" cy="1234440"/>
          </a:xfrm>
          <a:prstGeom prst="roundRect">
            <a:avLst>
              <a:gd name="adj" fmla="val 6667"/>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Text 2"/>
          <p:cNvSpPr/>
          <p:nvPr/>
        </p:nvSpPr>
        <p:spPr>
          <a:xfrm>
            <a:off x="822960" y="1371600"/>
            <a:ext cx="10515600" cy="777240"/>
          </a:xfrm>
          <a:prstGeom prst="rect">
            <a:avLst/>
          </a:prstGeom>
          <a:noFill/>
          <a:ln/>
        </p:spPr>
        <p:txBody>
          <a:bodyPr wrap="square" lIns="0" tIns="0" rIns="0" bIns="0" rtlCol="0" anchor="ctr"/>
          <a:lstStyle/>
          <a:p>
            <a:pPr marL="0" indent="0">
              <a:buNone/>
            </a:pPr>
            <a:r>
              <a:rPr lang="en-US" sz="1450" dirty="0">
                <a:solidFill>
                  <a:srgbClr val="101418"/>
                </a:solidFill>
                <a:latin typeface="Calibri" pitchFamily="34" charset="0"/>
                <a:ea typeface="Calibri" pitchFamily="34" charset="-122"/>
                <a:cs typeface="Calibri" pitchFamily="34" charset="-120"/>
              </a:rPr>
              <a:t>Precedent: per-lithology calibration was physically plausible — and measured at –0.0004 held-out AUC. It ships off. Every refinement since inherits that bar.</a:t>
            </a:r>
            <a:endParaRPr lang="en-US" sz="1450" dirty="0"/>
          </a:p>
        </p:txBody>
      </p:sp>
      <p:sp>
        <p:nvSpPr>
          <p:cNvPr id="5" name="Shape 3"/>
          <p:cNvSpPr/>
          <p:nvPr/>
        </p:nvSpPr>
        <p:spPr>
          <a:xfrm>
            <a:off x="566928" y="2606040"/>
            <a:ext cx="5394960" cy="3566160"/>
          </a:xfrm>
          <a:prstGeom prst="roundRect">
            <a:avLst>
              <a:gd name="adj" fmla="val 2308"/>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6" name="Text 4"/>
          <p:cNvSpPr/>
          <p:nvPr/>
        </p:nvSpPr>
        <p:spPr>
          <a:xfrm>
            <a:off x="795528" y="2788920"/>
            <a:ext cx="4937760" cy="50292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Flow-connectivity reach weighting</a:t>
            </a:r>
            <a:endParaRPr lang="en-US" sz="1600" dirty="0"/>
          </a:p>
        </p:txBody>
      </p:sp>
      <p:sp>
        <p:nvSpPr>
          <p:cNvPr id="7" name="Text 5"/>
          <p:cNvSpPr/>
          <p:nvPr/>
        </p:nvSpPr>
        <p:spPr>
          <a:xfrm>
            <a:off x="795528" y="3337560"/>
            <a:ext cx="4983480" cy="123444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Debris paths follow drainage (Flow-R; Horton 2013). Sources are re-weighted by the fraction of their D∞ flow routed through the asset.</a:t>
            </a:r>
            <a:endParaRPr lang="en-US" sz="1250" dirty="0"/>
          </a:p>
        </p:txBody>
      </p:sp>
      <p:sp>
        <p:nvSpPr>
          <p:cNvPr id="8" name="Shape 6"/>
          <p:cNvSpPr/>
          <p:nvPr/>
        </p:nvSpPr>
        <p:spPr>
          <a:xfrm>
            <a:off x="795528" y="4663440"/>
            <a:ext cx="4937760" cy="1280160"/>
          </a:xfrm>
          <a:prstGeom prst="roundRect">
            <a:avLst>
              <a:gd name="adj" fmla="val 5714"/>
            </a:avLst>
          </a:prstGeom>
          <a:solidFill>
            <a:srgbClr val="EAF1F5"/>
          </a:solidFill>
          <a:ln/>
        </p:spPr>
        <p:txBody>
          <a:bodyPr/>
          <a:lstStyle/>
          <a:p>
            <a:endParaRPr lang="en-US"/>
          </a:p>
        </p:txBody>
      </p:sp>
      <p:sp>
        <p:nvSpPr>
          <p:cNvPr id="9" name="Text 7"/>
          <p:cNvSpPr/>
          <p:nvPr/>
        </p:nvSpPr>
        <p:spPr>
          <a:xfrm>
            <a:off x="978408" y="4754880"/>
            <a:ext cx="4572000" cy="1097280"/>
          </a:xfrm>
          <a:prstGeom prst="rect">
            <a:avLst/>
          </a:prstGeom>
          <a:noFill/>
          <a:ln/>
        </p:spPr>
        <p:txBody>
          <a:bodyPr wrap="square" lIns="0" tIns="0" rIns="0" bIns="0" rtlCol="0" anchor="ctr"/>
          <a:lstStyle/>
          <a:p>
            <a:pPr marL="0" indent="0">
              <a:buNone/>
            </a:pPr>
            <a:r>
              <a:rPr lang="en-US" sz="1100" dirty="0">
                <a:solidFill>
                  <a:srgbClr val="153E5C"/>
                </a:solidFill>
                <a:latin typeface="Calibri" pitchFamily="34" charset="0"/>
                <a:ea typeface="Calibri" pitchFamily="34" charset="-122"/>
                <a:cs typeface="Calibri" pitchFamily="34" charset="-120"/>
              </a:rPr>
              <a:t>analysis/08_connectivity.py — polygon runout toes vs background, cone vs connectivity, adopt only if the AUC gain beats the resampling noise.</a:t>
            </a:r>
            <a:endParaRPr lang="en-US" sz="1100" dirty="0"/>
          </a:p>
        </p:txBody>
      </p:sp>
      <p:sp>
        <p:nvSpPr>
          <p:cNvPr id="10" name="Shape 8"/>
          <p:cNvSpPr/>
          <p:nvPr/>
        </p:nvSpPr>
        <p:spPr>
          <a:xfrm>
            <a:off x="6236208" y="2606040"/>
            <a:ext cx="5394960" cy="3566160"/>
          </a:xfrm>
          <a:prstGeom prst="roundRect">
            <a:avLst>
              <a:gd name="adj" fmla="val 2308"/>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1" name="Text 9"/>
          <p:cNvSpPr/>
          <p:nvPr/>
        </p:nvSpPr>
        <p:spPr>
          <a:xfrm>
            <a:off x="6464808" y="2788920"/>
            <a:ext cx="4937760" cy="502920"/>
          </a:xfrm>
          <a:prstGeom prst="rect">
            <a:avLst/>
          </a:prstGeom>
          <a:noFill/>
          <a:ln/>
        </p:spPr>
        <p:txBody>
          <a:bodyPr wrap="square" lIns="0" tIns="0" rIns="0" bIns="0" rtlCol="0" anchor="ctr"/>
          <a:lstStyle/>
          <a:p>
            <a:pPr marL="0" indent="0">
              <a:buNone/>
            </a:pPr>
            <a:r>
              <a:rPr lang="en-US" sz="1600" b="1" dirty="0">
                <a:solidFill>
                  <a:srgbClr val="153E5C"/>
                </a:solidFill>
                <a:latin typeface="Cambria" pitchFamily="34" charset="0"/>
                <a:ea typeface="Cambria" pitchFamily="34" charset="-122"/>
                <a:cs typeface="Cambria" pitchFamily="34" charset="-120"/>
              </a:rPr>
              <a:t>Slope-dependent soil depth</a:t>
            </a:r>
            <a:endParaRPr lang="en-US" sz="1600" dirty="0"/>
          </a:p>
        </p:txBody>
      </p:sp>
      <p:sp>
        <p:nvSpPr>
          <p:cNvPr id="12" name="Text 10"/>
          <p:cNvSpPr/>
          <p:nvPr/>
        </p:nvSpPr>
        <p:spPr>
          <a:xfrm>
            <a:off x="6464808" y="3337560"/>
            <a:ext cx="4983480" cy="123444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Regolith thins as slopes steepen (DeRose 1996). One factor scales cohesion and R/T together; the fit grid grows 48 → 144 candidates.</a:t>
            </a:r>
            <a:endParaRPr lang="en-US" sz="1250" dirty="0"/>
          </a:p>
        </p:txBody>
      </p:sp>
      <p:sp>
        <p:nvSpPr>
          <p:cNvPr id="13" name="Shape 11"/>
          <p:cNvSpPr/>
          <p:nvPr/>
        </p:nvSpPr>
        <p:spPr>
          <a:xfrm>
            <a:off x="6464808" y="4663440"/>
            <a:ext cx="4937760" cy="1280160"/>
          </a:xfrm>
          <a:prstGeom prst="roundRect">
            <a:avLst>
              <a:gd name="adj" fmla="val 5714"/>
            </a:avLst>
          </a:prstGeom>
          <a:solidFill>
            <a:srgbClr val="EAF1F5"/>
          </a:solidFill>
          <a:ln/>
        </p:spPr>
        <p:txBody>
          <a:bodyPr/>
          <a:lstStyle/>
          <a:p>
            <a:endParaRPr lang="en-US"/>
          </a:p>
        </p:txBody>
      </p:sp>
      <p:sp>
        <p:nvSpPr>
          <p:cNvPr id="14" name="Text 12"/>
          <p:cNvSpPr/>
          <p:nvPr/>
        </p:nvSpPr>
        <p:spPr>
          <a:xfrm>
            <a:off x="6647688" y="4754880"/>
            <a:ext cx="4572000" cy="1097280"/>
          </a:xfrm>
          <a:prstGeom prst="rect">
            <a:avLst/>
          </a:prstGeom>
          <a:noFill/>
          <a:ln/>
        </p:spPr>
        <p:txBody>
          <a:bodyPr wrap="square" lIns="0" tIns="0" rIns="0" bIns="0" rtlCol="0" anchor="ctr"/>
          <a:lstStyle/>
          <a:p>
            <a:pPr marL="0" indent="0">
              <a:buNone/>
            </a:pPr>
            <a:r>
              <a:rPr lang="en-US" sz="1100" dirty="0">
                <a:solidFill>
                  <a:srgbClr val="153E5C"/>
                </a:solidFill>
                <a:latin typeface="Calibri" pitchFamily="34" charset="0"/>
                <a:ea typeface="Calibri" pitchFamily="34" charset="-122"/>
                <a:cs typeface="Calibri" pitchFamily="34" charset="-120"/>
              </a:rPr>
              <a:t>analysis/09_soil_depth.py — same folds as the lithology test; adopt only if held-out AUC improves in both areas and nonzero depth is actually chosen.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The app: one page drives the whole region</a:t>
            </a:r>
            <a:endParaRPr lang="en-US" sz="3000" dirty="0"/>
          </a:p>
        </p:txBody>
      </p:sp>
      <p:sp>
        <p:nvSpPr>
          <p:cNvPr id="3" name="Shape 1"/>
          <p:cNvSpPr/>
          <p:nvPr/>
        </p:nvSpPr>
        <p:spPr>
          <a:xfrm>
            <a:off x="566928" y="1188720"/>
            <a:ext cx="5669280" cy="5029200"/>
          </a:xfrm>
          <a:prstGeom prst="roundRect">
            <a:avLst>
              <a:gd name="adj" fmla="val 1636"/>
            </a:avLst>
          </a:prstGeom>
          <a:solidFill>
            <a:srgbClr val="F4F6F9"/>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Shape 2"/>
          <p:cNvSpPr/>
          <p:nvPr/>
        </p:nvSpPr>
        <p:spPr>
          <a:xfrm>
            <a:off x="777240" y="1371600"/>
            <a:ext cx="5248656" cy="777240"/>
          </a:xfrm>
          <a:prstGeom prst="roundRect">
            <a:avLst>
              <a:gd name="adj" fmla="val 7059"/>
            </a:avLst>
          </a:prstGeom>
          <a:solidFill>
            <a:srgbClr val="153E5C"/>
          </a:solidFill>
          <a:ln/>
        </p:spPr>
        <p:txBody>
          <a:bodyPr/>
          <a:lstStyle/>
          <a:p>
            <a:endParaRPr lang="en-US"/>
          </a:p>
        </p:txBody>
      </p:sp>
      <p:sp>
        <p:nvSpPr>
          <p:cNvPr id="5" name="Text 3"/>
          <p:cNvSpPr/>
          <p:nvPr/>
        </p:nvSpPr>
        <p:spPr>
          <a:xfrm>
            <a:off x="960120" y="1481328"/>
            <a:ext cx="484632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Himalayan Slope Instability Model</a:t>
            </a:r>
            <a:endParaRPr lang="en-US" sz="1200" dirty="0"/>
          </a:p>
        </p:txBody>
      </p:sp>
      <p:sp>
        <p:nvSpPr>
          <p:cNvPr id="6" name="Shape 4"/>
          <p:cNvSpPr/>
          <p:nvPr/>
        </p:nvSpPr>
        <p:spPr>
          <a:xfrm>
            <a:off x="868680" y="2331720"/>
            <a:ext cx="1691640" cy="384048"/>
          </a:xfrm>
          <a:prstGeom prst="roundRect">
            <a:avLst>
              <a:gd name="adj" fmla="val 14286"/>
            </a:avLst>
          </a:prstGeom>
          <a:solidFill>
            <a:srgbClr val="FFFFFF"/>
          </a:solidFill>
          <a:ln w="9525">
            <a:solidFill>
              <a:srgbClr val="E4E8EE"/>
            </a:solidFill>
            <a:prstDash val="solid"/>
          </a:ln>
        </p:spPr>
        <p:txBody>
          <a:bodyPr/>
          <a:lstStyle/>
          <a:p>
            <a:endParaRPr lang="en-US"/>
          </a:p>
        </p:txBody>
      </p:sp>
      <p:sp>
        <p:nvSpPr>
          <p:cNvPr id="7" name="Text 5"/>
          <p:cNvSpPr/>
          <p:nvPr/>
        </p:nvSpPr>
        <p:spPr>
          <a:xfrm>
            <a:off x="987552" y="2377440"/>
            <a:ext cx="1463040" cy="292608"/>
          </a:xfrm>
          <a:prstGeom prst="rect">
            <a:avLst/>
          </a:prstGeom>
          <a:noFill/>
          <a:ln/>
        </p:spPr>
        <p:txBody>
          <a:bodyPr wrap="square" lIns="0" tIns="0" rIns="0" bIns="0" rtlCol="0" anchor="ctr"/>
          <a:lstStyle/>
          <a:p>
            <a:pPr marL="0" indent="0">
              <a:buNone/>
            </a:pPr>
            <a:r>
              <a:rPr lang="en-US" sz="1050" dirty="0">
                <a:solidFill>
                  <a:srgbClr val="101418"/>
                </a:solidFill>
                <a:latin typeface="Calibri" pitchFamily="34" charset="0"/>
                <a:ea typeface="Calibri" pitchFamily="34" charset="-122"/>
                <a:cs typeface="Calibri" pitchFamily="34" charset="-120"/>
              </a:rPr>
              <a:t>Country ▾</a:t>
            </a:r>
            <a:endParaRPr lang="en-US" sz="1050" dirty="0"/>
          </a:p>
        </p:txBody>
      </p:sp>
      <p:sp>
        <p:nvSpPr>
          <p:cNvPr id="8" name="Shape 6"/>
          <p:cNvSpPr/>
          <p:nvPr/>
        </p:nvSpPr>
        <p:spPr>
          <a:xfrm>
            <a:off x="2697480" y="2331720"/>
            <a:ext cx="1691640" cy="384048"/>
          </a:xfrm>
          <a:prstGeom prst="roundRect">
            <a:avLst>
              <a:gd name="adj" fmla="val 14286"/>
            </a:avLst>
          </a:prstGeom>
          <a:solidFill>
            <a:srgbClr val="FFFFFF"/>
          </a:solidFill>
          <a:ln w="9525">
            <a:solidFill>
              <a:srgbClr val="E4E8EE"/>
            </a:solidFill>
            <a:prstDash val="solid"/>
          </a:ln>
        </p:spPr>
        <p:txBody>
          <a:bodyPr/>
          <a:lstStyle/>
          <a:p>
            <a:endParaRPr lang="en-US"/>
          </a:p>
        </p:txBody>
      </p:sp>
      <p:sp>
        <p:nvSpPr>
          <p:cNvPr id="9" name="Text 7"/>
          <p:cNvSpPr/>
          <p:nvPr/>
        </p:nvSpPr>
        <p:spPr>
          <a:xfrm>
            <a:off x="2816352" y="2377440"/>
            <a:ext cx="1463040" cy="292608"/>
          </a:xfrm>
          <a:prstGeom prst="rect">
            <a:avLst/>
          </a:prstGeom>
          <a:noFill/>
          <a:ln/>
        </p:spPr>
        <p:txBody>
          <a:bodyPr wrap="square" lIns="0" tIns="0" rIns="0" bIns="0" rtlCol="0" anchor="ctr"/>
          <a:lstStyle/>
          <a:p>
            <a:pPr marL="0" indent="0">
              <a:buNone/>
            </a:pPr>
            <a:r>
              <a:rPr lang="en-US" sz="1050" dirty="0">
                <a:solidFill>
                  <a:srgbClr val="101418"/>
                </a:solidFill>
                <a:latin typeface="Calibri" pitchFamily="34" charset="0"/>
                <a:ea typeface="Calibri" pitchFamily="34" charset="-122"/>
                <a:cs typeface="Calibri" pitchFamily="34" charset="-120"/>
              </a:rPr>
              <a:t>Province ▾</a:t>
            </a:r>
            <a:endParaRPr lang="en-US" sz="1050" dirty="0"/>
          </a:p>
        </p:txBody>
      </p:sp>
      <p:sp>
        <p:nvSpPr>
          <p:cNvPr id="10" name="Shape 8"/>
          <p:cNvSpPr/>
          <p:nvPr/>
        </p:nvSpPr>
        <p:spPr>
          <a:xfrm>
            <a:off x="868680" y="2880360"/>
            <a:ext cx="5029200" cy="2011680"/>
          </a:xfrm>
          <a:prstGeom prst="roundRect">
            <a:avLst>
              <a:gd name="adj" fmla="val 2727"/>
            </a:avLst>
          </a:prstGeom>
          <a:solidFill>
            <a:srgbClr val="D8E4EC"/>
          </a:solidFill>
          <a:ln w="9525">
            <a:solidFill>
              <a:srgbClr val="E4E8EE"/>
            </a:solidFill>
            <a:prstDash val="solid"/>
          </a:ln>
        </p:spPr>
        <p:txBody>
          <a:bodyPr/>
          <a:lstStyle/>
          <a:p>
            <a:endParaRPr lang="en-US"/>
          </a:p>
        </p:txBody>
      </p:sp>
      <p:sp>
        <p:nvSpPr>
          <p:cNvPr id="11" name="Text 9"/>
          <p:cNvSpPr/>
          <p:nvPr/>
        </p:nvSpPr>
        <p:spPr>
          <a:xfrm>
            <a:off x="868680" y="3703320"/>
            <a:ext cx="5029200" cy="365760"/>
          </a:xfrm>
          <a:prstGeom prst="rect">
            <a:avLst/>
          </a:prstGeom>
          <a:noFill/>
          <a:ln/>
        </p:spPr>
        <p:txBody>
          <a:bodyPr wrap="square" rtlCol="0" anchor="ctr"/>
          <a:lstStyle/>
          <a:p>
            <a:pPr marL="0" indent="0" algn="ctr">
              <a:buNone/>
            </a:pPr>
            <a:r>
              <a:rPr lang="en-US" sz="1100" i="1" dirty="0">
                <a:solidFill>
                  <a:srgbClr val="1F6F8B"/>
                </a:solidFill>
                <a:latin typeface="Calibri" pitchFamily="34" charset="0"/>
                <a:ea typeface="Calibri" pitchFamily="34" charset="-122"/>
                <a:cs typeface="Calibri" pitchFamily="34" charset="-120"/>
              </a:rPr>
              <a:t>embedded province map</a:t>
            </a:r>
            <a:endParaRPr lang="en-US" sz="1100" dirty="0"/>
          </a:p>
        </p:txBody>
      </p:sp>
      <p:sp>
        <p:nvSpPr>
          <p:cNvPr id="12" name="Shape 10"/>
          <p:cNvSpPr/>
          <p:nvPr/>
        </p:nvSpPr>
        <p:spPr>
          <a:xfrm>
            <a:off x="868680" y="5029200"/>
            <a:ext cx="5029200" cy="274320"/>
          </a:xfrm>
          <a:prstGeom prst="roundRect">
            <a:avLst>
              <a:gd name="adj" fmla="val 13333"/>
            </a:avLst>
          </a:prstGeom>
          <a:solidFill>
            <a:srgbClr val="EAF1F5"/>
          </a:solidFill>
          <a:ln w="6350">
            <a:solidFill>
              <a:srgbClr val="E4E8EE"/>
            </a:solidFill>
            <a:prstDash val="solid"/>
          </a:ln>
        </p:spPr>
        <p:txBody>
          <a:bodyPr/>
          <a:lstStyle/>
          <a:p>
            <a:endParaRPr lang="en-US"/>
          </a:p>
        </p:txBody>
      </p:sp>
      <p:sp>
        <p:nvSpPr>
          <p:cNvPr id="13" name="Shape 11"/>
          <p:cNvSpPr/>
          <p:nvPr/>
        </p:nvSpPr>
        <p:spPr>
          <a:xfrm>
            <a:off x="868680" y="5394960"/>
            <a:ext cx="5029200" cy="274320"/>
          </a:xfrm>
          <a:prstGeom prst="roundRect">
            <a:avLst>
              <a:gd name="adj" fmla="val 13333"/>
            </a:avLst>
          </a:prstGeom>
          <a:solidFill>
            <a:srgbClr val="FFFFFF"/>
          </a:solidFill>
          <a:ln w="6350">
            <a:solidFill>
              <a:srgbClr val="E4E8EE"/>
            </a:solidFill>
            <a:prstDash val="solid"/>
          </a:ln>
        </p:spPr>
        <p:txBody>
          <a:bodyPr/>
          <a:lstStyle/>
          <a:p>
            <a:endParaRPr lang="en-US"/>
          </a:p>
        </p:txBody>
      </p:sp>
      <p:sp>
        <p:nvSpPr>
          <p:cNvPr id="14" name="Shape 12"/>
          <p:cNvSpPr/>
          <p:nvPr/>
        </p:nvSpPr>
        <p:spPr>
          <a:xfrm>
            <a:off x="868680" y="5760720"/>
            <a:ext cx="5029200" cy="274320"/>
          </a:xfrm>
          <a:prstGeom prst="roundRect">
            <a:avLst>
              <a:gd name="adj" fmla="val 13333"/>
            </a:avLst>
          </a:prstGeom>
          <a:solidFill>
            <a:srgbClr val="FFFFFF"/>
          </a:solidFill>
          <a:ln w="6350">
            <a:solidFill>
              <a:srgbClr val="E4E8EE"/>
            </a:solidFill>
            <a:prstDash val="solid"/>
          </a:ln>
        </p:spPr>
        <p:txBody>
          <a:bodyPr/>
          <a:lstStyle/>
          <a:p>
            <a:endParaRPr lang="en-US"/>
          </a:p>
        </p:txBody>
      </p:sp>
      <p:sp>
        <p:nvSpPr>
          <p:cNvPr id="15" name="Text 13"/>
          <p:cNvSpPr/>
          <p:nvPr/>
        </p:nvSpPr>
        <p:spPr>
          <a:xfrm>
            <a:off x="868680" y="5047488"/>
            <a:ext cx="5029200" cy="274320"/>
          </a:xfrm>
          <a:prstGeom prst="rect">
            <a:avLst/>
          </a:prstGeom>
          <a:noFill/>
          <a:ln/>
        </p:spPr>
        <p:txBody>
          <a:bodyPr wrap="square" rtlCol="0" anchor="ctr"/>
          <a:lstStyle/>
          <a:p>
            <a:pPr marL="0" indent="0" algn="ctr">
              <a:buNone/>
            </a:pPr>
            <a:r>
              <a:rPr lang="en-US" sz="950" dirty="0">
                <a:solidFill>
                  <a:srgbClr val="5C6672"/>
                </a:solidFill>
                <a:latin typeface="Calibri" pitchFamily="34" charset="0"/>
                <a:ea typeface="Calibri" pitchFamily="34" charset="-122"/>
                <a:cs typeface="Calibri" pitchFamily="34" charset="-120"/>
              </a:rPr>
              <a:t>tabs: Map · Provinces table · Glossary — click anything for its explainer</a:t>
            </a:r>
            <a:endParaRPr lang="en-US" sz="950" dirty="0"/>
          </a:p>
        </p:txBody>
      </p:sp>
      <p:sp>
        <p:nvSpPr>
          <p:cNvPr id="16" name="Shape 14"/>
          <p:cNvSpPr/>
          <p:nvPr/>
        </p:nvSpPr>
        <p:spPr>
          <a:xfrm>
            <a:off x="6537960" y="1188720"/>
            <a:ext cx="5074920" cy="1508760"/>
          </a:xfrm>
          <a:prstGeom prst="roundRect">
            <a:avLst>
              <a:gd name="adj" fmla="val 545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7" name="Text 15"/>
          <p:cNvSpPr/>
          <p:nvPr/>
        </p:nvSpPr>
        <p:spPr>
          <a:xfrm>
            <a:off x="6748272" y="1325880"/>
            <a:ext cx="4572000" cy="365760"/>
          </a:xfrm>
          <a:prstGeom prst="rect">
            <a:avLst/>
          </a:prstGeom>
          <a:noFill/>
          <a:ln/>
        </p:spPr>
        <p:txBody>
          <a:bodyPr wrap="square" lIns="0" tIns="0" rIns="0" bIns="0" rtlCol="0" anchor="ctr"/>
          <a:lstStyle/>
          <a:p>
            <a:pPr marL="0" indent="0">
              <a:buNone/>
            </a:pPr>
            <a:r>
              <a:rPr lang="en-US" sz="1450" b="1" dirty="0">
                <a:solidFill>
                  <a:srgbClr val="1F6F8B"/>
                </a:solidFill>
                <a:latin typeface="Cambria" pitchFamily="34" charset="0"/>
                <a:ea typeface="Cambria" pitchFamily="34" charset="-122"/>
                <a:cs typeface="Cambria" pitchFamily="34" charset="-120"/>
              </a:rPr>
              <a:t>Management</a:t>
            </a:r>
            <a:endParaRPr lang="en-US" sz="1450" dirty="0"/>
          </a:p>
        </p:txBody>
      </p:sp>
      <p:sp>
        <p:nvSpPr>
          <p:cNvPr id="18" name="Text 16"/>
          <p:cNvSpPr/>
          <p:nvPr/>
        </p:nvSpPr>
        <p:spPr>
          <a:xfrm>
            <a:off x="6748272" y="1709928"/>
            <a:ext cx="466344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The ranked table is the agenda: which provinces, how much exposed, and how many distinct risk clusters — settlement and road — each holds.</a:t>
            </a:r>
            <a:endParaRPr lang="en-US" sz="1200" dirty="0"/>
          </a:p>
        </p:txBody>
      </p:sp>
      <p:sp>
        <p:nvSpPr>
          <p:cNvPr id="19" name="Shape 17"/>
          <p:cNvSpPr/>
          <p:nvPr/>
        </p:nvSpPr>
        <p:spPr>
          <a:xfrm>
            <a:off x="6537960" y="2926080"/>
            <a:ext cx="5074920" cy="1508760"/>
          </a:xfrm>
          <a:prstGeom prst="roundRect">
            <a:avLst>
              <a:gd name="adj" fmla="val 545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0" name="Text 18"/>
          <p:cNvSpPr/>
          <p:nvPr/>
        </p:nvSpPr>
        <p:spPr>
          <a:xfrm>
            <a:off x="6748272" y="3063240"/>
            <a:ext cx="4572000" cy="365760"/>
          </a:xfrm>
          <a:prstGeom prst="rect">
            <a:avLst/>
          </a:prstGeom>
          <a:noFill/>
          <a:ln/>
        </p:spPr>
        <p:txBody>
          <a:bodyPr wrap="square" lIns="0" tIns="0" rIns="0" bIns="0" rtlCol="0" anchor="ctr"/>
          <a:lstStyle/>
          <a:p>
            <a:pPr marL="0" indent="0">
              <a:buNone/>
            </a:pPr>
            <a:r>
              <a:rPr lang="en-US" sz="1450" b="1" dirty="0">
                <a:solidFill>
                  <a:srgbClr val="1F6F8B"/>
                </a:solidFill>
                <a:latin typeface="Cambria" pitchFamily="34" charset="0"/>
                <a:ea typeface="Cambria" pitchFamily="34" charset="-122"/>
                <a:cs typeface="Cambria" pitchFamily="34" charset="-120"/>
              </a:rPr>
              <a:t>Technical teams</a:t>
            </a:r>
            <a:endParaRPr lang="en-US" sz="1450" dirty="0"/>
          </a:p>
        </p:txBody>
      </p:sp>
      <p:sp>
        <p:nvSpPr>
          <p:cNvPr id="21" name="Text 19"/>
          <p:cNvSpPr/>
          <p:nvPr/>
        </p:nvSpPr>
        <p:spPr>
          <a:xfrm>
            <a:off x="6748272" y="3447288"/>
            <a:ext cx="466344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Scenario selector re-plays the same terrain under storms, shaking and CMIP6 futures; the sidebar recomputes live.</a:t>
            </a:r>
            <a:endParaRPr lang="en-US" sz="1200" dirty="0"/>
          </a:p>
        </p:txBody>
      </p:sp>
      <p:sp>
        <p:nvSpPr>
          <p:cNvPr id="22" name="Shape 20"/>
          <p:cNvSpPr/>
          <p:nvPr/>
        </p:nvSpPr>
        <p:spPr>
          <a:xfrm>
            <a:off x="6537960" y="4663440"/>
            <a:ext cx="5074920" cy="1508760"/>
          </a:xfrm>
          <a:prstGeom prst="roundRect">
            <a:avLst>
              <a:gd name="adj" fmla="val 5455"/>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23" name="Text 21"/>
          <p:cNvSpPr/>
          <p:nvPr/>
        </p:nvSpPr>
        <p:spPr>
          <a:xfrm>
            <a:off x="6748272" y="4800600"/>
            <a:ext cx="4572000" cy="365760"/>
          </a:xfrm>
          <a:prstGeom prst="rect">
            <a:avLst/>
          </a:prstGeom>
          <a:noFill/>
          <a:ln/>
        </p:spPr>
        <p:txBody>
          <a:bodyPr wrap="square" lIns="0" tIns="0" rIns="0" bIns="0" rtlCol="0" anchor="ctr"/>
          <a:lstStyle/>
          <a:p>
            <a:pPr marL="0" indent="0">
              <a:buNone/>
            </a:pPr>
            <a:r>
              <a:rPr lang="en-US" sz="1450" b="1" dirty="0">
                <a:solidFill>
                  <a:srgbClr val="1F6F8B"/>
                </a:solidFill>
                <a:latin typeface="Cambria" pitchFamily="34" charset="0"/>
                <a:ea typeface="Cambria" pitchFamily="34" charset="-122"/>
                <a:cs typeface="Cambria" pitchFamily="34" charset="-120"/>
              </a:rPr>
              <a:t>Engineers</a:t>
            </a:r>
            <a:endParaRPr lang="en-US" sz="1450" dirty="0"/>
          </a:p>
        </p:txBody>
      </p:sp>
      <p:sp>
        <p:nvSpPr>
          <p:cNvPr id="24" name="Text 22"/>
          <p:cNvSpPr/>
          <p:nvPr/>
        </p:nvSpPr>
        <p:spPr>
          <a:xfrm>
            <a:off x="6748272" y="5184648"/>
            <a:ext cx="4663440" cy="914400"/>
          </a:xfrm>
          <a:prstGeom prst="rect">
            <a:avLst/>
          </a:prstGeom>
          <a:noFill/>
          <a:ln/>
        </p:spPr>
        <p:txBody>
          <a:bodyPr wrap="square" lIns="0" tIns="0" rIns="0" bIns="0" rtlCol="0" anchor="ctr"/>
          <a:lstStyle/>
          <a:p>
            <a:pPr marL="0" indent="0">
              <a:buNone/>
            </a:pPr>
            <a:r>
              <a:rPr lang="en-US" sz="1200" dirty="0">
                <a:solidFill>
                  <a:srgbClr val="5C6672"/>
                </a:solidFill>
                <a:latin typeface="Calibri" pitchFamily="34" charset="0"/>
                <a:ea typeface="Calibri" pitchFamily="34" charset="-122"/>
                <a:cs typeface="Calibri" pitchFamily="34" charset="-120"/>
              </a:rPr>
              <a:t>Popups carry the full record — score, terms, worst source, a compass arrow for the threat sector, supply, mechanism patterns — and green/yellow cluster shapes sit in the layer picker.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Say these out loud before presenting the maps</a:t>
            </a:r>
            <a:endParaRPr lang="en-US" sz="3000" dirty="0"/>
          </a:p>
        </p:txBody>
      </p:sp>
      <p:sp>
        <p:nvSpPr>
          <p:cNvPr id="3" name="Shape 1"/>
          <p:cNvSpPr/>
          <p:nvPr/>
        </p:nvSpPr>
        <p:spPr>
          <a:xfrm>
            <a:off x="566928" y="1234440"/>
            <a:ext cx="5394960" cy="2240280"/>
          </a:xfrm>
          <a:prstGeom prst="roundRect">
            <a:avLst>
              <a:gd name="adj" fmla="val 3673"/>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Shape 2"/>
          <p:cNvSpPr/>
          <p:nvPr/>
        </p:nvSpPr>
        <p:spPr>
          <a:xfrm>
            <a:off x="822960" y="1508760"/>
            <a:ext cx="384048" cy="384048"/>
          </a:xfrm>
          <a:prstGeom prst="diamond">
            <a:avLst/>
          </a:prstGeom>
          <a:solidFill>
            <a:srgbClr val="A50026"/>
          </a:solidFill>
          <a:ln w="9525">
            <a:solidFill>
              <a:srgbClr val="FFFFFF"/>
            </a:solidFill>
            <a:prstDash val="solid"/>
          </a:ln>
        </p:spPr>
        <p:txBody>
          <a:bodyPr/>
          <a:lstStyle/>
          <a:p>
            <a:endParaRPr lang="en-US"/>
          </a:p>
        </p:txBody>
      </p:sp>
      <p:sp>
        <p:nvSpPr>
          <p:cNvPr id="5" name="Text 3"/>
          <p:cNvSpPr/>
          <p:nvPr/>
        </p:nvSpPr>
        <p:spPr>
          <a:xfrm>
            <a:off x="1435608" y="1463040"/>
            <a:ext cx="4343400" cy="685800"/>
          </a:xfrm>
          <a:prstGeom prst="rect">
            <a:avLst/>
          </a:prstGeom>
          <a:noFill/>
          <a:ln/>
        </p:spPr>
        <p:txBody>
          <a:bodyPr wrap="square" lIns="0" tIns="0" rIns="0" bIns="0" rtlCol="0" anchor="ctr"/>
          <a:lstStyle/>
          <a:p>
            <a:pPr marL="0" indent="0">
              <a:buNone/>
            </a:pPr>
            <a:r>
              <a:rPr lang="en-US" sz="1550" b="1" dirty="0">
                <a:solidFill>
                  <a:srgbClr val="153E5C"/>
                </a:solidFill>
                <a:latin typeface="Cambria" pitchFamily="34" charset="0"/>
                <a:ea typeface="Cambria" pitchFamily="34" charset="-122"/>
                <a:cs typeface="Cambria" pitchFamily="34" charset="-120"/>
              </a:rPr>
              <a:t>Relative, not absolute</a:t>
            </a:r>
            <a:endParaRPr lang="en-US" sz="1550" dirty="0"/>
          </a:p>
        </p:txBody>
      </p:sp>
      <p:sp>
        <p:nvSpPr>
          <p:cNvPr id="6" name="Text 4"/>
          <p:cNvSpPr/>
          <p:nvPr/>
        </p:nvSpPr>
        <p:spPr>
          <a:xfrm>
            <a:off x="1435608" y="2148840"/>
            <a:ext cx="4343400" cy="11887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Differences between places are meaningful; the value is not an annual probability of failure.</a:t>
            </a:r>
            <a:endParaRPr lang="en-US" sz="1250" dirty="0"/>
          </a:p>
        </p:txBody>
      </p:sp>
      <p:sp>
        <p:nvSpPr>
          <p:cNvPr id="7" name="Shape 5"/>
          <p:cNvSpPr/>
          <p:nvPr/>
        </p:nvSpPr>
        <p:spPr>
          <a:xfrm>
            <a:off x="6236208" y="1234440"/>
            <a:ext cx="5394960" cy="2240280"/>
          </a:xfrm>
          <a:prstGeom prst="roundRect">
            <a:avLst>
              <a:gd name="adj" fmla="val 3673"/>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8" name="Shape 6"/>
          <p:cNvSpPr/>
          <p:nvPr/>
        </p:nvSpPr>
        <p:spPr>
          <a:xfrm>
            <a:off x="6492240" y="1508760"/>
            <a:ext cx="384048" cy="384048"/>
          </a:xfrm>
          <a:prstGeom prst="diamond">
            <a:avLst/>
          </a:prstGeom>
          <a:solidFill>
            <a:srgbClr val="A50026"/>
          </a:solidFill>
          <a:ln w="9525">
            <a:solidFill>
              <a:srgbClr val="FFFFFF"/>
            </a:solidFill>
            <a:prstDash val="solid"/>
          </a:ln>
        </p:spPr>
        <p:txBody>
          <a:bodyPr/>
          <a:lstStyle/>
          <a:p>
            <a:endParaRPr lang="en-US"/>
          </a:p>
        </p:txBody>
      </p:sp>
      <p:sp>
        <p:nvSpPr>
          <p:cNvPr id="9" name="Text 7"/>
          <p:cNvSpPr/>
          <p:nvPr/>
        </p:nvSpPr>
        <p:spPr>
          <a:xfrm>
            <a:off x="7104888" y="1463040"/>
            <a:ext cx="4343400" cy="685800"/>
          </a:xfrm>
          <a:prstGeom prst="rect">
            <a:avLst/>
          </a:prstGeom>
          <a:noFill/>
          <a:ln/>
        </p:spPr>
        <p:txBody>
          <a:bodyPr wrap="square" lIns="0" tIns="0" rIns="0" bIns="0" rtlCol="0" anchor="ctr"/>
          <a:lstStyle/>
          <a:p>
            <a:pPr marL="0" indent="0">
              <a:buNone/>
            </a:pPr>
            <a:r>
              <a:rPr lang="en-US" sz="1550" b="1" dirty="0">
                <a:solidFill>
                  <a:srgbClr val="153E5C"/>
                </a:solidFill>
                <a:latin typeface="Cambria" pitchFamily="34" charset="0"/>
                <a:ea typeface="Cambria" pitchFamily="34" charset="-122"/>
                <a:cs typeface="Cambria" pitchFamily="34" charset="-120"/>
              </a:rPr>
              <a:t>Screening, not risk</a:t>
            </a:r>
            <a:endParaRPr lang="en-US" sz="1550" dirty="0"/>
          </a:p>
        </p:txBody>
      </p:sp>
      <p:sp>
        <p:nvSpPr>
          <p:cNvPr id="10" name="Text 8"/>
          <p:cNvSpPr/>
          <p:nvPr/>
        </p:nvSpPr>
        <p:spPr>
          <a:xfrm>
            <a:off x="7104888" y="2148840"/>
            <a:ext cx="4343400" cy="11887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Angle-of-reach exposure — no runout model, no vulnerability, no damage function. Stated in the methods and the app's glossary.</a:t>
            </a:r>
            <a:endParaRPr lang="en-US" sz="1250" dirty="0"/>
          </a:p>
        </p:txBody>
      </p:sp>
      <p:sp>
        <p:nvSpPr>
          <p:cNvPr id="11" name="Shape 9"/>
          <p:cNvSpPr/>
          <p:nvPr/>
        </p:nvSpPr>
        <p:spPr>
          <a:xfrm>
            <a:off x="566928" y="3749040"/>
            <a:ext cx="5394960" cy="2240280"/>
          </a:xfrm>
          <a:prstGeom prst="roundRect">
            <a:avLst>
              <a:gd name="adj" fmla="val 3673"/>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2" name="Shape 10"/>
          <p:cNvSpPr/>
          <p:nvPr/>
        </p:nvSpPr>
        <p:spPr>
          <a:xfrm>
            <a:off x="822960" y="4023360"/>
            <a:ext cx="384048" cy="384048"/>
          </a:xfrm>
          <a:prstGeom prst="diamond">
            <a:avLst/>
          </a:prstGeom>
          <a:solidFill>
            <a:srgbClr val="A50026"/>
          </a:solidFill>
          <a:ln w="9525">
            <a:solidFill>
              <a:srgbClr val="FFFFFF"/>
            </a:solidFill>
            <a:prstDash val="solid"/>
          </a:ln>
        </p:spPr>
        <p:txBody>
          <a:bodyPr/>
          <a:lstStyle/>
          <a:p>
            <a:endParaRPr lang="en-US"/>
          </a:p>
        </p:txBody>
      </p:sp>
      <p:sp>
        <p:nvSpPr>
          <p:cNvPr id="13" name="Text 11"/>
          <p:cNvSpPr/>
          <p:nvPr/>
        </p:nvSpPr>
        <p:spPr>
          <a:xfrm>
            <a:off x="1435608" y="3977640"/>
            <a:ext cx="4343400" cy="685800"/>
          </a:xfrm>
          <a:prstGeom prst="rect">
            <a:avLst/>
          </a:prstGeom>
          <a:noFill/>
          <a:ln/>
        </p:spPr>
        <p:txBody>
          <a:bodyPr wrap="square" lIns="0" tIns="0" rIns="0" bIns="0" rtlCol="0" anchor="ctr"/>
          <a:lstStyle/>
          <a:p>
            <a:pPr marL="0" indent="0">
              <a:buNone/>
            </a:pPr>
            <a:r>
              <a:rPr lang="en-US" sz="1550" b="1" dirty="0">
                <a:solidFill>
                  <a:srgbClr val="153E5C"/>
                </a:solidFill>
                <a:latin typeface="Cambria" pitchFamily="34" charset="0"/>
                <a:ea typeface="Cambria" pitchFamily="34" charset="-122"/>
                <a:cs typeface="Cambria" pitchFamily="34" charset="-120"/>
              </a:rPr>
              <a:t>Skill is measured where inventories exist</a:t>
            </a:r>
            <a:endParaRPr lang="en-US" sz="1550" dirty="0"/>
          </a:p>
        </p:txBody>
      </p:sp>
      <p:sp>
        <p:nvSpPr>
          <p:cNvPr id="14" name="Text 12"/>
          <p:cNvSpPr/>
          <p:nvPr/>
        </p:nvSpPr>
        <p:spPr>
          <a:xfrm>
            <a:off x="1435608" y="4663440"/>
            <a:ext cx="4343400" cy="11887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All three inventories sit in the eastern half; westward the skill is unknown rather than assumed.</a:t>
            </a:r>
            <a:endParaRPr lang="en-US" sz="1250" dirty="0"/>
          </a:p>
        </p:txBody>
      </p:sp>
      <p:sp>
        <p:nvSpPr>
          <p:cNvPr id="15" name="Shape 13"/>
          <p:cNvSpPr/>
          <p:nvPr/>
        </p:nvSpPr>
        <p:spPr>
          <a:xfrm>
            <a:off x="6236208" y="3749040"/>
            <a:ext cx="5394960" cy="2240280"/>
          </a:xfrm>
          <a:prstGeom prst="roundRect">
            <a:avLst>
              <a:gd name="adj" fmla="val 3673"/>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16" name="Shape 14"/>
          <p:cNvSpPr/>
          <p:nvPr/>
        </p:nvSpPr>
        <p:spPr>
          <a:xfrm>
            <a:off x="6492240" y="4023360"/>
            <a:ext cx="384048" cy="384048"/>
          </a:xfrm>
          <a:prstGeom prst="diamond">
            <a:avLst/>
          </a:prstGeom>
          <a:solidFill>
            <a:srgbClr val="A50026"/>
          </a:solidFill>
          <a:ln w="9525">
            <a:solidFill>
              <a:srgbClr val="FFFFFF"/>
            </a:solidFill>
            <a:prstDash val="solid"/>
          </a:ln>
        </p:spPr>
        <p:txBody>
          <a:bodyPr/>
          <a:lstStyle/>
          <a:p>
            <a:endParaRPr lang="en-US"/>
          </a:p>
        </p:txBody>
      </p:sp>
      <p:sp>
        <p:nvSpPr>
          <p:cNvPr id="17" name="Text 15"/>
          <p:cNvSpPr/>
          <p:nvPr/>
        </p:nvSpPr>
        <p:spPr>
          <a:xfrm>
            <a:off x="7104888" y="3977640"/>
            <a:ext cx="4343400" cy="685800"/>
          </a:xfrm>
          <a:prstGeom prst="rect">
            <a:avLst/>
          </a:prstGeom>
          <a:noFill/>
          <a:ln/>
        </p:spPr>
        <p:txBody>
          <a:bodyPr wrap="square" lIns="0" tIns="0" rIns="0" bIns="0" rtlCol="0" anchor="ctr"/>
          <a:lstStyle/>
          <a:p>
            <a:pPr marL="0" indent="0">
              <a:buNone/>
            </a:pPr>
            <a:r>
              <a:rPr lang="en-US" sz="1550" b="1" dirty="0">
                <a:solidFill>
                  <a:srgbClr val="153E5C"/>
                </a:solidFill>
                <a:latin typeface="Cambria" pitchFamily="34" charset="0"/>
                <a:ea typeface="Cambria" pitchFamily="34" charset="-122"/>
                <a:cs typeface="Cambria" pitchFamily="34" charset="-120"/>
              </a:rPr>
              <a:t>Shallow failures only</a:t>
            </a:r>
            <a:endParaRPr lang="en-US" sz="1550" dirty="0"/>
          </a:p>
        </p:txBody>
      </p:sp>
      <p:sp>
        <p:nvSpPr>
          <p:cNvPr id="18" name="Text 16"/>
          <p:cNvSpPr/>
          <p:nvPr/>
        </p:nvSpPr>
        <p:spPr>
          <a:xfrm>
            <a:off x="7104888" y="4663440"/>
            <a:ext cx="4343400" cy="1188720"/>
          </a:xfrm>
          <a:prstGeom prst="rect">
            <a:avLst/>
          </a:prstGeom>
          <a:noFill/>
          <a:ln/>
        </p:spPr>
        <p:txBody>
          <a:bodyPr wrap="square" lIns="0" tIns="0" rIns="0" bIns="0" rtlCol="0" anchor="ctr"/>
          <a:lstStyle/>
          <a:p>
            <a:pPr marL="0" indent="0">
              <a:buNone/>
            </a:pPr>
            <a:r>
              <a:rPr lang="en-US" sz="1250" dirty="0">
                <a:solidFill>
                  <a:srgbClr val="5C6672"/>
                </a:solidFill>
                <a:latin typeface="Calibri" pitchFamily="34" charset="0"/>
                <a:ea typeface="Calibri" pitchFamily="34" charset="-122"/>
                <a:cs typeface="Calibri" pitchFamily="34" charset="-120"/>
              </a:rPr>
              <a:t>Deep-seated slides, rock avalanches and road-cut collapses are outside the physics — the last is flagged, never scored.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292608"/>
            <a:ext cx="11091672" cy="685800"/>
          </a:xfrm>
          <a:prstGeom prst="rect">
            <a:avLst/>
          </a:prstGeom>
          <a:noFill/>
          <a:ln/>
        </p:spPr>
        <p:txBody>
          <a:bodyPr wrap="square" lIns="0" tIns="0" rIns="0" bIns="0" rtlCol="0" anchor="ctr"/>
          <a:lstStyle/>
          <a:p>
            <a:pPr marL="0" indent="0">
              <a:buNone/>
            </a:pPr>
            <a:r>
              <a:rPr lang="en-US" sz="3000" b="1" dirty="0">
                <a:solidFill>
                  <a:srgbClr val="153E5C"/>
                </a:solidFill>
                <a:latin typeface="Cambria" pitchFamily="34" charset="0"/>
                <a:ea typeface="Cambria" pitchFamily="34" charset="-122"/>
                <a:cs typeface="Cambria" pitchFamily="34" charset="-120"/>
              </a:rPr>
              <a:t>Running it: the whole product in six commands</a:t>
            </a:r>
            <a:endParaRPr lang="en-US" sz="3000" dirty="0"/>
          </a:p>
        </p:txBody>
      </p:sp>
      <p:sp>
        <p:nvSpPr>
          <p:cNvPr id="3" name="Shape 1"/>
          <p:cNvSpPr/>
          <p:nvPr/>
        </p:nvSpPr>
        <p:spPr>
          <a:xfrm>
            <a:off x="566928" y="1143000"/>
            <a:ext cx="11055096" cy="3749040"/>
          </a:xfrm>
          <a:prstGeom prst="roundRect">
            <a:avLst>
              <a:gd name="adj" fmla="val 2195"/>
            </a:avLst>
          </a:prstGeom>
          <a:solidFill>
            <a:srgbClr val="1B2129"/>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4" name="Text 2"/>
          <p:cNvSpPr/>
          <p:nvPr/>
        </p:nvSpPr>
        <p:spPr>
          <a:xfrm>
            <a:off x="868680" y="1417320"/>
            <a:ext cx="10515600" cy="3291840"/>
          </a:xfrm>
          <a:prstGeom prst="rect">
            <a:avLst/>
          </a:prstGeom>
          <a:noFill/>
          <a:ln/>
        </p:spPr>
        <p:txBody>
          <a:bodyPr wrap="square" lIns="0" tIns="0" rIns="0" bIns="0" rtlCol="0" anchor="ctr"/>
          <a:lstStyle/>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pytest tests/ -q                                     # 110 tests, seconds</a:t>
            </a:r>
            <a:endParaRPr lang="en-US" sz="1300" dirty="0"/>
          </a:p>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h-sim step3-calibrate --config configs/01_gorkha_calibration.json</a:t>
            </a:r>
            <a:endParaRPr lang="en-US" sz="1300" dirty="0"/>
          </a:p>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h-sim step4-validate  --config configs/01_gorkha_calibration.json</a:t>
            </a:r>
            <a:endParaRPr lang="en-US" sz="1300" dirty="0"/>
          </a:p>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h-sim step5-susceptibility --config configs/02_hkh_region.json   # days</a:t>
            </a:r>
            <a:endParaRPr lang="en-US" sz="1300" dirty="0"/>
          </a:p>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h-sim province-refresh --config configs/02_hkh_region.json  # worst first</a:t>
            </a:r>
            <a:endParaRPr lang="en-US" sz="1300" dirty="0"/>
          </a:p>
          <a:p>
            <a:pPr marL="0" indent="0">
              <a:lnSpc>
                <a:spcPts val="2600"/>
              </a:lnSpc>
              <a:buNone/>
            </a:pPr>
            <a:r>
              <a:rPr lang="en-US" sz="1300" dirty="0">
                <a:solidFill>
                  <a:srgbClr val="D9E4EC"/>
                </a:solidFill>
                <a:latin typeface="Courier New" pitchFamily="34" charset="0"/>
                <a:ea typeface="Courier New" pitchFamily="34" charset="-122"/>
                <a:cs typeface="Courier New" pitchFamily="34" charset="-120"/>
              </a:rPr>
              <a:t>open outputs/hkh_region/index.html                   # the deliverable</a:t>
            </a:r>
            <a:endParaRPr lang="en-US" sz="1300" dirty="0"/>
          </a:p>
        </p:txBody>
      </p:sp>
      <p:sp>
        <p:nvSpPr>
          <p:cNvPr id="5" name="Shape 3"/>
          <p:cNvSpPr/>
          <p:nvPr/>
        </p:nvSpPr>
        <p:spPr>
          <a:xfrm>
            <a:off x="566928" y="5120640"/>
            <a:ext cx="11055096" cy="1325880"/>
          </a:xfrm>
          <a:prstGeom prst="roundRect">
            <a:avLst>
              <a:gd name="adj" fmla="val 6207"/>
            </a:avLst>
          </a:prstGeom>
          <a:solidFill>
            <a:srgbClr val="FFFFFF"/>
          </a:solidFill>
          <a:ln w="9525">
            <a:solidFill>
              <a:srgbClr val="E4E8EE"/>
            </a:solidFill>
            <a:prstDash val="solid"/>
          </a:ln>
          <a:effectLst>
            <a:outerShdw blurRad="1524" dist="508" dir="5400000" algn="bl" rotWithShape="0">
              <a:srgbClr val="16324A">
                <a:alpha val="25000"/>
              </a:srgbClr>
            </a:outerShdw>
          </a:effectLst>
        </p:spPr>
        <p:txBody>
          <a:bodyPr/>
          <a:lstStyle/>
          <a:p>
            <a:endParaRPr lang="en-US"/>
          </a:p>
        </p:txBody>
      </p:sp>
      <p:sp>
        <p:nvSpPr>
          <p:cNvPr id="6" name="Text 4"/>
          <p:cNvSpPr/>
          <p:nvPr/>
        </p:nvSpPr>
        <p:spPr>
          <a:xfrm>
            <a:off x="822960" y="5285232"/>
            <a:ext cx="10515600" cy="1005840"/>
          </a:xfrm>
          <a:prstGeom prst="rect">
            <a:avLst/>
          </a:prstGeom>
          <a:noFill/>
          <a:ln/>
        </p:spPr>
        <p:txBody>
          <a:bodyPr wrap="square" lIns="0" tIns="0" rIns="0" bIns="0" rtlCol="0" anchor="ctr"/>
          <a:lstStyle/>
          <a:p>
            <a:pPr marL="0" indent="0">
              <a:buNone/>
            </a:pPr>
            <a:r>
              <a:rPr lang="en-US" sz="1350" dirty="0">
                <a:solidFill>
                  <a:srgbClr val="101418"/>
                </a:solidFill>
                <a:latin typeface="Calibri" pitchFamily="34" charset="0"/>
                <a:ea typeface="Calibri" pitchFamily="34" charset="-122"/>
                <a:cs typeface="Calibri" pitchFamily="34" charset="-120"/>
              </a:rPr>
              <a:t>Everything resumes, and only what a marker failed to produce re-runs. province-refresh grows the app one finished province at a time; --rebuild-pages re-skins a finished region in seconds per province; prune-excluded reclaims disk from deselected countries.</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3E5C"/>
        </a:solidFill>
        <a:effectLst/>
      </p:bgPr>
    </p:bg>
    <p:spTree>
      <p:nvGrpSpPr>
        <p:cNvPr id="1" name=""/>
        <p:cNvGrpSpPr/>
        <p:nvPr/>
      </p:nvGrpSpPr>
      <p:grpSpPr>
        <a:xfrm>
          <a:off x="0" y="0"/>
          <a:ext cx="0" cy="0"/>
          <a:chOff x="0" y="0"/>
          <a:chExt cx="0" cy="0"/>
        </a:xfrm>
      </p:grpSpPr>
      <p:sp>
        <p:nvSpPr>
          <p:cNvPr id="2" name="Shape 0"/>
          <p:cNvSpPr/>
          <p:nvPr/>
        </p:nvSpPr>
        <p:spPr>
          <a:xfrm>
            <a:off x="0" y="3566160"/>
            <a:ext cx="12188952" cy="3291840"/>
          </a:xfrm>
          <a:custGeom>
            <a:avLst/>
            <a:gdLst/>
            <a:ahLst/>
            <a:cxnLst/>
            <a:rect l="l" t="t" r="r" b="b"/>
            <a:pathLst>
              <a:path w="12188952" h="3291840">
                <a:moveTo>
                  <a:pt x="0" y="3291840"/>
                </a:moveTo>
                <a:lnTo>
                  <a:pt x="0" y="1810512"/>
                </a:lnTo>
                <a:lnTo>
                  <a:pt x="1462674" y="2468880"/>
                </a:lnTo>
                <a:lnTo>
                  <a:pt x="2437790" y="1645920"/>
                </a:lnTo>
                <a:lnTo>
                  <a:pt x="3656686" y="2370125"/>
                </a:lnTo>
                <a:lnTo>
                  <a:pt x="5119360" y="1152144"/>
                </a:lnTo>
                <a:lnTo>
                  <a:pt x="6338255" y="2238451"/>
                </a:lnTo>
                <a:lnTo>
                  <a:pt x="7557150" y="1382573"/>
                </a:lnTo>
                <a:lnTo>
                  <a:pt x="8776045" y="2172614"/>
                </a:lnTo>
                <a:lnTo>
                  <a:pt x="9994941" y="987552"/>
                </a:lnTo>
                <a:lnTo>
                  <a:pt x="10970057" y="1975104"/>
                </a:lnTo>
                <a:lnTo>
                  <a:pt x="12188952" y="1481328"/>
                </a:lnTo>
                <a:lnTo>
                  <a:pt x="12188952" y="3291840"/>
                </a:lnTo>
              </a:path>
            </a:pathLst>
          </a:custGeom>
          <a:solidFill>
            <a:srgbClr val="1F6F8B">
              <a:alpha val="45000"/>
            </a:srgbClr>
          </a:solidFill>
          <a:ln/>
        </p:spPr>
        <p:txBody>
          <a:bodyPr/>
          <a:lstStyle/>
          <a:p>
            <a:endParaRPr lang="en-US"/>
          </a:p>
        </p:txBody>
      </p:sp>
      <p:sp>
        <p:nvSpPr>
          <p:cNvPr id="3" name="Shape 1"/>
          <p:cNvSpPr/>
          <p:nvPr/>
        </p:nvSpPr>
        <p:spPr>
          <a:xfrm>
            <a:off x="0" y="4389120"/>
            <a:ext cx="12188952" cy="2468880"/>
          </a:xfrm>
          <a:custGeom>
            <a:avLst/>
            <a:gdLst/>
            <a:ahLst/>
            <a:cxnLst/>
            <a:rect l="l" t="t" r="r" b="b"/>
            <a:pathLst>
              <a:path w="12188952" h="2468880">
                <a:moveTo>
                  <a:pt x="0" y="2468880"/>
                </a:moveTo>
                <a:lnTo>
                  <a:pt x="0" y="1357884"/>
                </a:lnTo>
                <a:lnTo>
                  <a:pt x="1462674" y="1851660"/>
                </a:lnTo>
                <a:lnTo>
                  <a:pt x="2437790" y="1234440"/>
                </a:lnTo>
                <a:lnTo>
                  <a:pt x="3656686" y="1777594"/>
                </a:lnTo>
                <a:lnTo>
                  <a:pt x="5119360" y="864108"/>
                </a:lnTo>
                <a:lnTo>
                  <a:pt x="6338255" y="1678838"/>
                </a:lnTo>
                <a:lnTo>
                  <a:pt x="7557150" y="1036930"/>
                </a:lnTo>
                <a:lnTo>
                  <a:pt x="8776045" y="1629461"/>
                </a:lnTo>
                <a:lnTo>
                  <a:pt x="9994941" y="740664"/>
                </a:lnTo>
                <a:lnTo>
                  <a:pt x="10970057" y="1481328"/>
                </a:lnTo>
                <a:lnTo>
                  <a:pt x="12188952" y="1110996"/>
                </a:lnTo>
                <a:lnTo>
                  <a:pt x="12188952" y="2468880"/>
                </a:lnTo>
              </a:path>
            </a:pathLst>
          </a:custGeom>
          <a:solidFill>
            <a:srgbClr val="0E2A3F">
              <a:alpha val="75000"/>
            </a:srgbClr>
          </a:solidFill>
          <a:ln/>
        </p:spPr>
        <p:txBody>
          <a:bodyPr/>
          <a:lstStyle/>
          <a:p>
            <a:endParaRPr lang="en-US"/>
          </a:p>
        </p:txBody>
      </p:sp>
      <p:sp>
        <p:nvSpPr>
          <p:cNvPr id="4" name="Text 2"/>
          <p:cNvSpPr/>
          <p:nvPr/>
        </p:nvSpPr>
        <p:spPr>
          <a:xfrm>
            <a:off x="822960" y="73152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earns its way in next</a:t>
            </a:r>
            <a:endParaRPr lang="en-US" sz="3000" dirty="0"/>
          </a:p>
        </p:txBody>
      </p:sp>
      <p:sp>
        <p:nvSpPr>
          <p:cNvPr id="5" name="Text 3"/>
          <p:cNvSpPr/>
          <p:nvPr/>
        </p:nvSpPr>
        <p:spPr>
          <a:xfrm>
            <a:off x="841248" y="1508760"/>
            <a:ext cx="10332720" cy="1737360"/>
          </a:xfrm>
          <a:prstGeom prst="rect">
            <a:avLst/>
          </a:prstGeom>
          <a:noFill/>
          <a:ln/>
        </p:spPr>
        <p:txBody>
          <a:bodyPr wrap="square" lIns="0" tIns="0" rIns="0" bIns="0" rtlCol="0" anchor="ctr"/>
          <a:lstStyle/>
          <a:p>
            <a:pPr marL="342900" indent="-342900">
              <a:spcAft>
                <a:spcPts val="900"/>
              </a:spcAft>
              <a:buSzPct val="100000"/>
              <a:buChar char="•"/>
            </a:pPr>
            <a:r>
              <a:rPr lang="en-US" sz="1450" dirty="0">
                <a:solidFill>
                  <a:srgbClr val="D9E4EC"/>
                </a:solidFill>
                <a:latin typeface="Calibri" pitchFamily="34" charset="0"/>
                <a:ea typeface="Calibri" pitchFamily="34" charset="-122"/>
                <a:cs typeface="Calibri" pitchFamily="34" charset="-120"/>
              </a:rPr>
              <a:t>Run the two switches on real inventories: analysis/08 (connectivity), analysis/09 (soil depth) — adopt on ADOPT, record on NULL.</a:t>
            </a:r>
            <a:endParaRPr lang="en-US" sz="1450" dirty="0"/>
          </a:p>
          <a:p>
            <a:pPr marL="342900" indent="-342900">
              <a:spcAft>
                <a:spcPts val="900"/>
              </a:spcAft>
              <a:buSzPct val="100000"/>
              <a:buChar char="•"/>
            </a:pPr>
            <a:r>
              <a:rPr lang="en-US" sz="1450" dirty="0">
                <a:solidFill>
                  <a:srgbClr val="D9E4EC"/>
                </a:solidFill>
                <a:latin typeface="Calibri" pitchFamily="34" charset="0"/>
                <a:ea typeface="Calibri" pitchFamily="34" charset="-122"/>
                <a:cs typeface="Calibri" pitchFamily="34" charset="-120"/>
              </a:rPr>
              <a:t>GHS-BUILT built-up extent to replace footprint discs, behind the same interface.</a:t>
            </a:r>
            <a:endParaRPr lang="en-US" sz="1450" dirty="0"/>
          </a:p>
          <a:p>
            <a:pPr marL="342900" indent="-342900">
              <a:spcAft>
                <a:spcPts val="900"/>
              </a:spcAft>
              <a:buSzPct val="100000"/>
              <a:buChar char="•"/>
            </a:pPr>
            <a:r>
              <a:rPr lang="en-US" sz="1450" dirty="0">
                <a:solidFill>
                  <a:srgbClr val="D9E4EC"/>
                </a:solidFill>
                <a:latin typeface="Calibri" pitchFamily="34" charset="0"/>
                <a:ea typeface="Calibri" pitchFamily="34" charset="-122"/>
                <a:cs typeface="Calibri" pitchFamily="34" charset="-120"/>
              </a:rPr>
              <a:t>Network criticality for roads — which cut actually severs a valley — as its own project.</a:t>
            </a:r>
            <a:endParaRPr lang="en-US" sz="1450" dirty="0"/>
          </a:p>
        </p:txBody>
      </p:sp>
      <p:sp>
        <p:nvSpPr>
          <p:cNvPr id="6" name="Text 4"/>
          <p:cNvSpPr/>
          <p:nvPr/>
        </p:nvSpPr>
        <p:spPr>
          <a:xfrm>
            <a:off x="841248" y="5989320"/>
            <a:ext cx="7315200" cy="411480"/>
          </a:xfrm>
          <a:prstGeom prst="rect">
            <a:avLst/>
          </a:prstGeom>
          <a:noFill/>
          <a:ln/>
        </p:spPr>
        <p:txBody>
          <a:bodyPr wrap="square" lIns="0" tIns="0" rIns="0" bIns="0" rtlCol="0" anchor="ctr"/>
          <a:lstStyle/>
          <a:p>
            <a:pPr marL="0" indent="0">
              <a:buNone/>
            </a:pPr>
            <a:r>
              <a:rPr lang="en-US" sz="1300" dirty="0">
                <a:solidFill>
                  <a:srgbClr val="AECBDD"/>
                </a:solidFill>
                <a:latin typeface="Courier New" pitchFamily="34" charset="0"/>
                <a:ea typeface="Courier New" pitchFamily="34" charset="-122"/>
                <a:cs typeface="Courier New" pitchFamily="34" charset="-120"/>
              </a:rPr>
              <a:t>github.com/ntwarakavi/Himalayas_LandslideRisk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1826</Words>
  <Application>Microsoft Macintosh PowerPoint</Application>
  <PresentationFormat>Widescreen</PresentationFormat>
  <Paragraphs>152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Navin K. Twarakavi</cp:lastModifiedBy>
  <cp:revision>1</cp:revision>
  <dcterms:created xsi:type="dcterms:W3CDTF">2026-08-03T23:41:48Z</dcterms:created>
  <dcterms:modified xsi:type="dcterms:W3CDTF">2026-08-04T02:03:38Z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7d4574-7375-4d17-b29c-6e4c6df0fcb0_Enabled">
    <vt:lpwstr>true</vt:lpwstr>
  </property>
  <property fmtid="{D5CDD505-2E9C-101B-9397-08002B2CF9AE}" pid="3" name="MSIP_Label_817d4574-7375-4d17-b29c-6e4c6df0fcb0_SetDate">
    <vt:lpwstr>2026-08-04T02:02:36Z</vt:lpwstr>
  </property>
  <property fmtid="{D5CDD505-2E9C-101B-9397-08002B2CF9AE}" pid="4" name="MSIP_Label_817d4574-7375-4d17-b29c-6e4c6df0fcb0_Method">
    <vt:lpwstr>Standard</vt:lpwstr>
  </property>
  <property fmtid="{D5CDD505-2E9C-101B-9397-08002B2CF9AE}" pid="5" name="MSIP_Label_817d4574-7375-4d17-b29c-6e4c6df0fcb0_Name">
    <vt:lpwstr>ADB Internal</vt:lpwstr>
  </property>
  <property fmtid="{D5CDD505-2E9C-101B-9397-08002B2CF9AE}" pid="6" name="MSIP_Label_817d4574-7375-4d17-b29c-6e4c6df0fcb0_SiteId">
    <vt:lpwstr>9495d6bb-41c2-4c58-848f-92e52cf3d640</vt:lpwstr>
  </property>
  <property fmtid="{D5CDD505-2E9C-101B-9397-08002B2CF9AE}" pid="7" name="MSIP_Label_817d4574-7375-4d17-b29c-6e4c6df0fcb0_ActionId">
    <vt:lpwstr>c103d53f-f0fe-456b-a4f3-e7e4ab6ae9b6</vt:lpwstr>
  </property>
  <property fmtid="{D5CDD505-2E9C-101B-9397-08002B2CF9AE}" pid="8" name="MSIP_Label_817d4574-7375-4d17-b29c-6e4c6df0fcb0_ContentBits">
    <vt:lpwstr>2</vt:lpwstr>
  </property>
  <property fmtid="{D5CDD505-2E9C-101B-9397-08002B2CF9AE}" pid="9" name="MSIP_Label_817d4574-7375-4d17-b29c-6e4c6df0fcb0_Tag">
    <vt:lpwstr>50, 3, 0, 1</vt:lpwstr>
  </property>
  <property fmtid="{D5CDD505-2E9C-101B-9397-08002B2CF9AE}" pid="10" name="ClassificationContentMarkingFooterLocations">
    <vt:lpwstr>Office Theme:3</vt:lpwstr>
  </property>
  <property fmtid="{D5CDD505-2E9C-101B-9397-08002B2CF9AE}" pid="11" name="ClassificationContentMarkingFooterText">
    <vt:lpwstr>INTERNAL. This information is accessible to ADB Management and Staff. It may be shared outside ADB with appropriate permission.</vt:lpwstr>
  </property>
</Properties>
</file>